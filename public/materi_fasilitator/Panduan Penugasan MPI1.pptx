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7" Type="http://schemas.openxmlformats.org/officeDocument/2006/relationships/font" Target="fonts/CenturyGothic-regular.fntdata"/><Relationship Id="rId16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3" name="Google Shape;23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5" name="Google Shape;25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79549" y="2262267"/>
            <a:ext cx="2599186" cy="60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s.kemkes.go.id/a14soal_mpi1" TargetMode="External"/><Relationship Id="rId4" Type="http://schemas.openxmlformats.org/officeDocument/2006/relationships/hyperlink" Target="http://s.kemkes.go.id/a14soal_mpi1" TargetMode="External"/><Relationship Id="rId5" Type="http://schemas.openxmlformats.org/officeDocument/2006/relationships/hyperlink" Target="http://s.kemkes.go.id/a14soal_mpi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hyperlink" Target="http://s.kemkes.go.id/mpi1_a21kel6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s.kemkes.go.id/mpi1_a21kel1" TargetMode="External"/><Relationship Id="rId4" Type="http://schemas.openxmlformats.org/officeDocument/2006/relationships/hyperlink" Target="http://s.kemkes.go.id/mpi1_a21kel2" TargetMode="External"/><Relationship Id="rId9" Type="http://schemas.openxmlformats.org/officeDocument/2006/relationships/hyperlink" Target="http://s.kemkes.go.id/mpi1_a21kel5" TargetMode="External"/><Relationship Id="rId5" Type="http://schemas.openxmlformats.org/officeDocument/2006/relationships/hyperlink" Target="http://s.kemkes.go.id/mpi1_a21kel3" TargetMode="External"/><Relationship Id="rId6" Type="http://schemas.openxmlformats.org/officeDocument/2006/relationships/hyperlink" Target="http://s.kemkes.go.id/mpi1_a21kel3" TargetMode="External"/><Relationship Id="rId7" Type="http://schemas.openxmlformats.org/officeDocument/2006/relationships/hyperlink" Target="http://s.kemkes.go.id/mpi1_a21kel4" TargetMode="External"/><Relationship Id="rId8" Type="http://schemas.openxmlformats.org/officeDocument/2006/relationships/hyperlink" Target="http://s.kemkes.go.id/mpi1_a21kel5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583225" y="96515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GB" sz="3000">
                <a:solidFill>
                  <a:schemeClr val="dk1"/>
                </a:solidFill>
              </a:rPr>
              <a:t>Penugasan MPI 1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ct val="80000"/>
              <a:buFont typeface="Arial"/>
              <a:buNone/>
            </a:pPr>
            <a:r>
              <a:rPr b="0" lang="en-GB" sz="3000">
                <a:solidFill>
                  <a:schemeClr val="dk1"/>
                </a:solidFill>
              </a:rPr>
              <a:t>Analisis Rekam Medis Sebagai Dasar Pengajuan Klaim JKN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17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PANDUAN STUDI KASUS</a:t>
            </a:r>
            <a:endParaRPr sz="1710"/>
          </a:p>
        </p:txBody>
      </p:sp>
      <p:sp>
        <p:nvSpPr>
          <p:cNvPr id="83" name="Google Shape;83;p17"/>
          <p:cNvSpPr txBox="1"/>
          <p:nvPr/>
        </p:nvSpPr>
        <p:spPr>
          <a:xfrm>
            <a:off x="430150" y="659450"/>
            <a:ext cx="84249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Tujuan: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peserta mampu melakukan analisis kelengkapan rekam medis sebagai dasar pengajuan klaim.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Bahan dan Alat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1.Rekam Medis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2.Form Ceklist Analisis Kelengkapan Rekam Medis Rawat Inap ⇒ Googlesheet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3.Form Hasil Analisis Kelengkapan Rekam Medis Rawat Inap ⇒ Googlesheet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4.Laptop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Langkah-langkah: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1.Fasilitator membagi peserta menjadi 6 kelompok terdiri dari 5 orang (5 menit)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2.Peserta masing – masing menyiapkan 1 rekam medis rawat inap (5 menit).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3.Peserta melakukan analisis kelengkapan rekam medis dengan menggunakan form checklist analisis kelengkapan yang disiapkan fasilitator (15 menit)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4.Setiap Peserta dan Kelompok merekap hasil dari checklist analisis kelengkapan rekam medis (30 menit).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5.Setiap Kelompok menyajikan hasil rekapan analisis kelengkapan rekam medis (30 menit).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6.Fasilitator merangkum kegiatan studi kasus (5 menit).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Waktu: 2 JPL x 45 menit = 90 menit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396"/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Pembagian Kelompok Angkatan 21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25" y="1681157"/>
            <a:ext cx="2105025" cy="178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8"/>
          <p:cNvCxnSpPr/>
          <p:nvPr/>
        </p:nvCxnSpPr>
        <p:spPr>
          <a:xfrm>
            <a:off x="2530675" y="732725"/>
            <a:ext cx="34200" cy="4110300"/>
          </a:xfrm>
          <a:prstGeom prst="straightConnector1">
            <a:avLst/>
          </a:prstGeom>
          <a:noFill/>
          <a:ln cap="flat" cmpd="sng" w="38100">
            <a:solidFill>
              <a:srgbClr val="00B6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5601800" y="639425"/>
            <a:ext cx="32100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4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Gayuh Afika Prahastiwi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Nugroho Agung Wibawa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Lutfiana Nurhayati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Dwi Yustika Hidayati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Enti Evalina Silaen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5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Bekajaya Lahagu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Dear Flowery Ahmad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Aliva Aqila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Sultanah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Gadis Maya Pahlawani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6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Dewi Rahmawanti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Nadya Nur Annisa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Mercy Palamba Rambung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Elis Triani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Tanti Cahyani Syamsiah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2815225" y="550925"/>
            <a:ext cx="3000000" cy="44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1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Syarif hidayatullah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Richa Rahmadani Amalia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Osela Maharani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Irda Nurdin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Arum Kusuma Wardani 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2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Arum Sutria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Rayani Manalu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Dhimaz Dhandy Pradana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Keisha Halimatus Azka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Yuliana Dewi Rushita Sari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3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Yeriska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Amri Konadi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Linta Laili Rodhiana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Tiarani Augustine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Mila Arista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100" name="Google Shape;100;p19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9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SOAL MPI 1 ANGKATAN 21</a:t>
            </a:r>
            <a:endParaRPr sz="1710"/>
          </a:p>
        </p:txBody>
      </p:sp>
      <p:sp>
        <p:nvSpPr>
          <p:cNvPr id="102" name="Google Shape;102;p19"/>
          <p:cNvSpPr txBox="1"/>
          <p:nvPr/>
        </p:nvSpPr>
        <p:spPr>
          <a:xfrm>
            <a:off x="357175" y="1044525"/>
            <a:ext cx="8424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s.kemkes.go.id/</a:t>
            </a:r>
            <a:r>
              <a:rPr b="1" lang="en-GB" sz="2500" u="sng">
                <a:solidFill>
                  <a:schemeClr val="hlink"/>
                </a:solidFill>
                <a:hlinkClick r:id="rId4"/>
              </a:rPr>
              <a:t>gel3_</a:t>
            </a:r>
            <a:r>
              <a:rPr b="1" i="0" lang="en-GB" sz="2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soalmpi1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719575" y="785000"/>
            <a:ext cx="83487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1400"/>
              <a:buChar char="-"/>
            </a:pPr>
            <a:r>
              <a:rPr b="1" lang="en-GB" sz="1400">
                <a:solidFill>
                  <a:srgbClr val="00B6A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SEMUA IDENTITAS KARENA SUDAH ERM MAKA DIANGGAP LENGKAP (Ditutup untuk menjaga privasi)</a:t>
            </a:r>
            <a:endParaRPr b="1" sz="1400">
              <a:solidFill>
                <a:srgbClr val="00B6AA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1400"/>
              <a:buChar char="-"/>
            </a:pPr>
            <a:r>
              <a:rPr b="1" lang="en-GB" sz="1400">
                <a:solidFill>
                  <a:srgbClr val="00B6A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SEMUA NAMA DOKTER DAN AUTENTIKASI TTD JUGA DIANGGAP LENGKAP (Ditutup untuk menjaga privasi)</a:t>
            </a:r>
            <a:endParaRPr b="1" sz="1400">
              <a:solidFill>
                <a:srgbClr val="00B6AA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1400"/>
              <a:buChar char="-"/>
            </a:pPr>
            <a:r>
              <a:rPr b="1" lang="en-GB" sz="1400">
                <a:solidFill>
                  <a:srgbClr val="00B6A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UNTUK FORM YANG TIDAK BISA DINILAI ATAU N/A MAKA BERIKAN NILAI TERTINGGI Contoh = 5 (Untuk Item Surat Kematian)</a:t>
            </a:r>
            <a:endParaRPr b="1" sz="1400">
              <a:solidFill>
                <a:srgbClr val="00B6AA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b="1">
              <a:solidFill>
                <a:srgbClr val="00B6AA"/>
              </a:solidFill>
              <a:highlight>
                <a:schemeClr val="lt1"/>
              </a:highlight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756675" y="996328"/>
            <a:ext cx="77001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GB" sz="2700">
                <a:solidFill>
                  <a:srgbClr val="FF0000"/>
                </a:solidFill>
              </a:rPr>
              <a:t>NOTES !!!</a:t>
            </a:r>
            <a:endParaRPr sz="2700">
              <a:solidFill>
                <a:srgbClr val="FF0000"/>
              </a:solidFill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0575" y="508375"/>
            <a:ext cx="1094801" cy="109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116" name="Google Shape;116;p21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21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PENUGASAN MPI 1 ANGKATAN 21</a:t>
            </a:r>
            <a:endParaRPr sz="1710"/>
          </a:p>
        </p:txBody>
      </p:sp>
      <p:sp>
        <p:nvSpPr>
          <p:cNvPr id="118" name="Google Shape;118;p21"/>
          <p:cNvSpPr txBox="1"/>
          <p:nvPr/>
        </p:nvSpPr>
        <p:spPr>
          <a:xfrm>
            <a:off x="357175" y="724100"/>
            <a:ext cx="8424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Kelompok 1: </a:t>
            </a:r>
            <a:r>
              <a:rPr b="1" lang="en-GB" sz="2500" u="sng">
                <a:solidFill>
                  <a:schemeClr val="hlink"/>
                </a:solidFill>
                <a:hlinkClick r:id="rId3"/>
              </a:rPr>
              <a:t>s.kemkes.go.id/mpi1_a21kel1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Kelompok 2: </a:t>
            </a:r>
            <a:r>
              <a:rPr b="1" lang="en-GB" sz="2500" u="sng">
                <a:solidFill>
                  <a:schemeClr val="hlink"/>
                </a:solidFill>
                <a:hlinkClick r:id="rId4"/>
              </a:rPr>
              <a:t>s.kemkes.go.id/mpi1_a21kel2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Kelompok 3: </a:t>
            </a:r>
            <a:r>
              <a:rPr b="1" lang="en-GB" sz="2500" u="sng">
                <a:solidFill>
                  <a:schemeClr val="hlink"/>
                </a:solidFill>
                <a:hlinkClick r:id="rId5"/>
              </a:rPr>
              <a:t>s.kemkes.go.id/mpi1_a21kel</a:t>
            </a:r>
            <a:r>
              <a:rPr b="1" lang="en-GB" sz="2500" u="sng">
                <a:solidFill>
                  <a:schemeClr val="hlink"/>
                </a:solidFill>
                <a:hlinkClick r:id="rId6"/>
              </a:rPr>
              <a:t>3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Kelompok 4: </a:t>
            </a:r>
            <a:r>
              <a:rPr b="1" lang="en-GB" sz="2500" u="sng">
                <a:solidFill>
                  <a:schemeClr val="hlink"/>
                </a:solidFill>
                <a:hlinkClick r:id="rId7"/>
              </a:rPr>
              <a:t>s.kemkes.go.id/mpi1_a21kel4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Kelompok 5: </a:t>
            </a:r>
            <a:r>
              <a:rPr b="1" lang="en-GB" sz="2500" u="sng">
                <a:solidFill>
                  <a:schemeClr val="hlink"/>
                </a:solidFill>
                <a:hlinkClick r:id="rId8"/>
              </a:rPr>
              <a:t>s.kemkes.go.id/mpi1_a21kel</a:t>
            </a:r>
            <a:r>
              <a:rPr b="1" lang="en-GB" sz="2500" u="sng">
                <a:solidFill>
                  <a:schemeClr val="hlink"/>
                </a:solidFill>
                <a:hlinkClick r:id="rId9"/>
              </a:rPr>
              <a:t>5</a:t>
            </a:r>
            <a:endParaRPr b="1" sz="2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Kelompok 6: </a:t>
            </a:r>
            <a:r>
              <a:rPr b="1" lang="en-GB" sz="2500" u="sng">
                <a:solidFill>
                  <a:schemeClr val="hlink"/>
                </a:solidFill>
                <a:hlinkClick r:id="rId10"/>
              </a:rPr>
              <a:t>s.kemkes.go.id/mpi1_a21kel6</a:t>
            </a:r>
            <a:endParaRPr b="1" sz="2500" u="non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