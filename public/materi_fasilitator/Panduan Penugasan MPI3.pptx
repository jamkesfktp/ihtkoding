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Quattrocento Sans"/>
      <p:regular r:id="rId27"/>
      <p:bold r:id="rId28"/>
      <p:italic r:id="rId29"/>
      <p:boldItalic r:id="rId30"/>
    </p:embeddedFont>
    <p:embeddedFont>
      <p:font typeface="Century Gothic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regular.fnt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33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32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CenturyGothic-boldItalic.fntdata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Nunito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fe79f70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7cfe79f7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fe79f708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7cfe79f708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cfe79f708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7cfe79f70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3" name="Google Shape;23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5" name="Google Shape;25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79549" y="2262267"/>
            <a:ext cx="2599186" cy="60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s.kemkes.go.id/gel3_soalmpi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s.kemkes.go.id/mpi3_a21kel1" TargetMode="External"/><Relationship Id="rId4" Type="http://schemas.openxmlformats.org/officeDocument/2006/relationships/hyperlink" Target="http://s.kemkes.go.id/mpi3_a21kel2" TargetMode="External"/><Relationship Id="rId9" Type="http://schemas.openxmlformats.org/officeDocument/2006/relationships/hyperlink" Target="http://s.kemkes.go.id/Gform-MPI3-Gel3" TargetMode="External"/><Relationship Id="rId5" Type="http://schemas.openxmlformats.org/officeDocument/2006/relationships/hyperlink" Target="http://s.kemkes.go.id/mpi3_a21kel3" TargetMode="External"/><Relationship Id="rId6" Type="http://schemas.openxmlformats.org/officeDocument/2006/relationships/hyperlink" Target="http://s.kemkes.go.id/mpi3_a21kel4" TargetMode="External"/><Relationship Id="rId7" Type="http://schemas.openxmlformats.org/officeDocument/2006/relationships/hyperlink" Target="http://s.kemkes.go.id/mpi3_a21kel5" TargetMode="External"/><Relationship Id="rId8" Type="http://schemas.openxmlformats.org/officeDocument/2006/relationships/hyperlink" Target="http://s.kemkes.go.id/mpi3_a21kel6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.id/ICD_BA_PelatihanTangera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583225" y="96515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-GB" sz="2700">
                <a:solidFill>
                  <a:schemeClr val="dk1"/>
                </a:solidFill>
              </a:rPr>
              <a:t>Penugasan MPI 3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ct val="80000"/>
              <a:buFont typeface="Arial"/>
              <a:buNone/>
            </a:pPr>
            <a:r>
              <a:rPr lang="en-GB" sz="3000">
                <a:solidFill>
                  <a:srgbClr val="215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Kodifikasi Tindakan Sesuai Dengan </a:t>
            </a:r>
            <a:endParaRPr sz="3000">
              <a:solidFill>
                <a:srgbClr val="2151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ct val="80000"/>
              <a:buFont typeface="Arial"/>
              <a:buNone/>
            </a:pPr>
            <a:r>
              <a:rPr lang="en-GB" sz="3000">
                <a:solidFill>
                  <a:srgbClr val="215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ICD 9CM Tahun 2010 dengan IM </a:t>
            </a:r>
            <a:endParaRPr sz="3000">
              <a:solidFill>
                <a:srgbClr val="2151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81" name="Google Shape;81;p17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17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PANDUAN STUDI KASUS</a:t>
            </a:r>
            <a:endParaRPr sz="1710"/>
          </a:p>
        </p:txBody>
      </p:sp>
      <p:sp>
        <p:nvSpPr>
          <p:cNvPr id="83" name="Google Shape;83;p17"/>
          <p:cNvSpPr txBox="1"/>
          <p:nvPr/>
        </p:nvSpPr>
        <p:spPr>
          <a:xfrm>
            <a:off x="430150" y="659450"/>
            <a:ext cx="8424900" cy="4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Tujuan: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Menerapkan koding sesuai aturan ICD-9 CM Tahun 2010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Menerapkan koding iDRG berdasarkan ICS</a:t>
            </a: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Langkah-langkah: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Peserta dibagi menjadi 6 kelompok, setiap kelompok terdiri dari 5 orang (5 menit).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Setiap kelompok memilih notulen dan penyaji (5 menit).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Setiap kelompok melakukan simulasi berdasarkan kasus dibawah ini (30 menit)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Setiap kelompok menyajikan hasil diskusinya dengan bahan tayang (60 menit).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Kelompok lain mengamati penyajian kelompok yang sedang presentasi dan memberikan masukan atau klarifikasi (60 menit)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Fasilitator merangkum kegiatan diskusi kelompok (20 menit).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Waktu: 4 JPLx 45 Menit = 180 menit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06308" y="1038578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000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rPr>
              <a:t>Langkah Pengerjaan Penugasan:</a:t>
            </a:r>
            <a:endParaRPr sz="3000">
              <a:solidFill>
                <a:srgbClr val="233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100"/>
              <a:buFont typeface="Roboto"/>
              <a:buAutoNum type="arabicPeriod"/>
            </a:pPr>
            <a:r>
              <a:rPr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Telaah resume medis yang terdapat </a:t>
            </a:r>
            <a:r>
              <a:rPr i="1"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link</a:t>
            </a:r>
            <a:r>
              <a:rPr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 masing-masing kelompok, jawablah sesuai nomor soal pada </a:t>
            </a:r>
            <a:r>
              <a:rPr i="1"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slide </a:t>
            </a:r>
            <a:r>
              <a:rPr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lembar jawaban</a:t>
            </a:r>
            <a:endParaRPr sz="18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100"/>
              <a:buFont typeface="Roboto"/>
              <a:buAutoNum type="arabicPeriod"/>
            </a:pPr>
            <a:r>
              <a:rPr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Tentukan prosedur/tindakan dan kode ICD 9 CM pada  resume medis sesuai nomor soal.</a:t>
            </a:r>
            <a:endParaRPr sz="18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100"/>
              <a:buFont typeface="Roboto"/>
              <a:buAutoNum type="arabicPeriod"/>
            </a:pPr>
            <a:r>
              <a:rPr i="1"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Capture </a:t>
            </a:r>
            <a:r>
              <a:rPr lang="en-GB" sz="18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langkah - langkah pencarian kode ICD 9 CM setiap kode prosedur/tindakan dan jawablah pada google slide yang telah disediakan masing-masing kelompok</a:t>
            </a:r>
            <a:endParaRPr sz="18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100">
              <a:solidFill>
                <a:srgbClr val="233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100"/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721958" y="55194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2700">
                <a:solidFill>
                  <a:schemeClr val="dk1"/>
                </a:solidFill>
                <a:highlight>
                  <a:srgbClr val="00B9AD"/>
                </a:highlight>
                <a:latin typeface="Roboto"/>
                <a:ea typeface="Roboto"/>
                <a:cs typeface="Roboto"/>
                <a:sym typeface="Roboto"/>
              </a:rPr>
              <a:t>TERDIRI DARI 10 KASUS RESUME MEDIS</a:t>
            </a:r>
            <a:endParaRPr sz="2610">
              <a:solidFill>
                <a:schemeClr val="dk1"/>
              </a:solidFill>
              <a:highlight>
                <a:srgbClr val="00B9AD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674458" y="4383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3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Contoh Jawaban </a:t>
            </a:r>
            <a:endParaRPr sz="2310"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746800"/>
            <a:ext cx="8645850" cy="39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396"/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Pembagian Kelompok Angkatan 21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25" y="1681157"/>
            <a:ext cx="2105025" cy="178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20"/>
          <p:cNvCxnSpPr/>
          <p:nvPr/>
        </p:nvCxnSpPr>
        <p:spPr>
          <a:xfrm>
            <a:off x="2530675" y="732725"/>
            <a:ext cx="34200" cy="4110300"/>
          </a:xfrm>
          <a:prstGeom prst="straightConnector1">
            <a:avLst/>
          </a:prstGeom>
          <a:noFill/>
          <a:ln cap="flat" cmpd="sng" w="38100">
            <a:solidFill>
              <a:srgbClr val="00B6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0"/>
          <p:cNvSpPr txBox="1"/>
          <p:nvPr/>
        </p:nvSpPr>
        <p:spPr>
          <a:xfrm>
            <a:off x="5556600" y="467075"/>
            <a:ext cx="3332400" cy="4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4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Sultanah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Nadya Nur Annisa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Syarif hidayatullah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Rayani Manalu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Richa Rahmadani Amalia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5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Dhimaz Dhandy Pradana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Amri Konadi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Lutfiana Nurhayati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Dewi Rahmawanti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Aliva Aqila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6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Tiarani Augustine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Enti Evalina Silaen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Arum Sutria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Tanti Cahyani Syamsiah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Dear Flowery Ahmad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770000" y="520275"/>
            <a:ext cx="3000000" cy="4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1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Bekajaya Lahagu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Mila Arista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Linta Laili Rodhiana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Elis Triani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/>
              <a:t>Mercy Palamba Rambung 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2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Osela Maharani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Keisha Halimatus Azka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Dwi Yustika Hidayati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Gayuh Afika Prahastiwi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Yuliana Dewi Rushita Sari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3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Nugroho Agung Wibawa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Irda Nurdin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Yeriska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Arum Kusuma Wardani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Gadis Maya Pahlawani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114" name="Google Shape;114;p21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SOAL MPI 3 ANGKATAN 2</a:t>
            </a:r>
            <a:endParaRPr sz="2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430150" y="736550"/>
            <a:ext cx="84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430150" y="1667100"/>
            <a:ext cx="8424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2500" u="sng">
                <a:solidFill>
                  <a:schemeClr val="hlink"/>
                </a:solidFill>
                <a:hlinkClick r:id="rId3"/>
              </a:rPr>
              <a:t>s.kemkes.go.id/gel3_soalmpi3</a:t>
            </a:r>
            <a:endParaRPr b="1" sz="2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674450" y="211324"/>
            <a:ext cx="7700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0" lang="en-GB" sz="2700">
                <a:solidFill>
                  <a:schemeClr val="dk1"/>
                </a:solidFill>
                <a:highlight>
                  <a:srgbClr val="00B6AA"/>
                </a:highlight>
                <a:latin typeface="Nunito"/>
                <a:ea typeface="Nunito"/>
                <a:cs typeface="Nunito"/>
                <a:sym typeface="Nunito"/>
              </a:rPr>
              <a:t>link Lembar Jawaban</a:t>
            </a:r>
            <a:endParaRPr sz="1600">
              <a:solidFill>
                <a:schemeClr val="dk1"/>
              </a:solidFill>
              <a:highlight>
                <a:srgbClr val="00B6AA"/>
              </a:highlight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878950" y="1091025"/>
            <a:ext cx="7606800" cy="3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5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1 </a:t>
            </a:r>
            <a:r>
              <a:rPr b="1" i="0" lang="en-GB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b="1" lang="en-GB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s.kemkes.go.id/mpi3_a21kel1</a:t>
            </a:r>
            <a:endParaRPr b="1" sz="2400" u="non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2  ⇒ </a:t>
            </a:r>
            <a:r>
              <a:rPr b="1" lang="en-GB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s.kemkes.go.id/mpi3_a21kel2</a:t>
            </a:r>
            <a:endParaRPr b="1" sz="2400" u="non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3  ⇒ </a:t>
            </a:r>
            <a:r>
              <a:rPr b="1" lang="en-GB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s.kemkes.go.id/mpi3_a21kel3</a:t>
            </a:r>
            <a:endParaRPr b="1" sz="2400" u="non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4  ⇒ </a:t>
            </a:r>
            <a:r>
              <a:rPr b="1" lang="en-GB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s.kemkes.go.id/mpi3_a21kel4</a:t>
            </a:r>
            <a:endParaRPr b="1" sz="2400" u="non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5  ⇒ </a:t>
            </a:r>
            <a:r>
              <a:rPr b="1" lang="en-GB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s.kemkes.go.id/mpi3_a21kel5</a:t>
            </a:r>
            <a:endParaRPr b="1" sz="2400" u="non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4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kelompok 6  ⇒</a:t>
            </a:r>
            <a:r>
              <a:rPr b="1" i="0" lang="en-GB" sz="2400" u="none" cap="none" strike="noStrike">
                <a:solidFill>
                  <a:srgbClr val="163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s.kemkes.go.id/mpi3_a21kel6</a:t>
            </a:r>
            <a:endParaRPr b="1" sz="2400" u="none">
              <a:solidFill>
                <a:srgbClr val="163E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163E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543525" y="3702550"/>
            <a:ext cx="77001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000000"/>
                </a:solidFill>
                <a:highlight>
                  <a:srgbClr val="00B6AA"/>
                </a:highlight>
                <a:latin typeface="Nunito"/>
                <a:ea typeface="Nunito"/>
                <a:cs typeface="Nunito"/>
                <a:sym typeface="Nunito"/>
              </a:rPr>
              <a:t>G-Form Jawaban</a:t>
            </a:r>
            <a:endParaRPr b="1" sz="1700">
              <a:solidFill>
                <a:srgbClr val="000000"/>
              </a:solidFill>
              <a:highlight>
                <a:srgbClr val="00B6AA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874225" y="4201175"/>
            <a:ext cx="76068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n-GB" sz="23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s.kemkes.go.id/Gform-MPI3-Gel3</a:t>
            </a:r>
            <a:endParaRPr b="1" sz="2300" u="none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000">
              <a:solidFill>
                <a:srgbClr val="163E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674458" y="77904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ICD 10 (IM), ICD 9CM (IM), dan ICS</a:t>
            </a:r>
            <a:endParaRPr sz="30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674450" y="1567100"/>
            <a:ext cx="814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GB" sz="2600" u="none" cap="none" strike="noStrike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link ICD :</a:t>
            </a:r>
            <a:r>
              <a:rPr b="0" i="0" lang="en-GB" sz="2600" u="none" cap="none" strike="noStrike">
                <a:solidFill>
                  <a:srgbClr val="233A44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i="0" lang="en-GB" sz="33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s.kemkes.go.id/icdics</a:t>
            </a:r>
            <a:endParaRPr b="1" i="0" sz="3300" u="sng" cap="none" strike="noStrike">
              <a:solidFill>
                <a:schemeClr val="hlink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