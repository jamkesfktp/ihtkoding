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12192000" cy="6858000"/>
  <p:embeddedFontLst>
    <p:embeddedFont>
      <p:font typeface="Tahoma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iIe0m1xJotGGoxgb3jQPQJWlcm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Tahoma-bold.fntdata"/><Relationship Id="rId25" Type="http://schemas.openxmlformats.org/officeDocument/2006/relationships/font" Target="fonts/Tahoma-regular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" name="Google Shape;49;p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p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1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13:notes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1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1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16:notes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1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1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1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1"/>
          <p:cNvSpPr txBox="1"/>
          <p:nvPr>
            <p:ph type="title"/>
          </p:nvPr>
        </p:nvSpPr>
        <p:spPr>
          <a:xfrm>
            <a:off x="3574034" y="1452498"/>
            <a:ext cx="5043931" cy="833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>
                <a:solidFill>
                  <a:srgbClr val="00737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" type="body"/>
          </p:nvPr>
        </p:nvSpPr>
        <p:spPr>
          <a:xfrm>
            <a:off x="767587" y="1226946"/>
            <a:ext cx="10913110" cy="4294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2" type="sldNum"/>
          </p:nvPr>
        </p:nvSpPr>
        <p:spPr>
          <a:xfrm>
            <a:off x="11606276" y="6375713"/>
            <a:ext cx="234315" cy="196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2" type="sldNum"/>
          </p:nvPr>
        </p:nvSpPr>
        <p:spPr>
          <a:xfrm>
            <a:off x="11606276" y="6375713"/>
            <a:ext cx="234315" cy="196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>
                <a:solidFill>
                  <a:srgbClr val="00737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2" type="sldNum"/>
          </p:nvPr>
        </p:nvSpPr>
        <p:spPr>
          <a:xfrm>
            <a:off x="11606276" y="6375713"/>
            <a:ext cx="234315" cy="196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4"/>
          <p:cNvSpPr txBox="1"/>
          <p:nvPr>
            <p:ph type="title"/>
          </p:nvPr>
        </p:nvSpPr>
        <p:spPr>
          <a:xfrm>
            <a:off x="3574034" y="1452498"/>
            <a:ext cx="5043931" cy="833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>
                <a:solidFill>
                  <a:srgbClr val="00737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12" type="sldNum"/>
          </p:nvPr>
        </p:nvSpPr>
        <p:spPr>
          <a:xfrm>
            <a:off x="11606276" y="6375713"/>
            <a:ext cx="234315" cy="196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5"/>
          <p:cNvSpPr txBox="1"/>
          <p:nvPr>
            <p:ph type="title"/>
          </p:nvPr>
        </p:nvSpPr>
        <p:spPr>
          <a:xfrm>
            <a:off x="3574034" y="1452498"/>
            <a:ext cx="5043931" cy="833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>
                <a:solidFill>
                  <a:srgbClr val="00737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2" type="sldNum"/>
          </p:nvPr>
        </p:nvSpPr>
        <p:spPr>
          <a:xfrm>
            <a:off x="11606276" y="6375713"/>
            <a:ext cx="234315" cy="196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97790" marR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5.xml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353800" y="0"/>
            <a:ext cx="838200" cy="839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047"/>
            <a:ext cx="842772" cy="851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17735" y="6204203"/>
            <a:ext cx="2103120" cy="466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018275"/>
            <a:ext cx="850391" cy="839724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0"/>
          <p:cNvSpPr txBox="1"/>
          <p:nvPr>
            <p:ph type="title"/>
          </p:nvPr>
        </p:nvSpPr>
        <p:spPr>
          <a:xfrm>
            <a:off x="3574034" y="1452498"/>
            <a:ext cx="5043931" cy="833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00737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20"/>
          <p:cNvSpPr txBox="1"/>
          <p:nvPr>
            <p:ph idx="1" type="body"/>
          </p:nvPr>
        </p:nvSpPr>
        <p:spPr>
          <a:xfrm>
            <a:off x="767587" y="1226946"/>
            <a:ext cx="10913110" cy="4294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20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0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0"/>
          <p:cNvSpPr txBox="1"/>
          <p:nvPr>
            <p:ph idx="12" type="sldNum"/>
          </p:nvPr>
        </p:nvSpPr>
        <p:spPr>
          <a:xfrm>
            <a:off x="11606276" y="6375713"/>
            <a:ext cx="234315" cy="196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9779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779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9779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9779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9779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9779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9779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9779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5"/>
    <p:sldLayoutId id="2147483650" r:id="rId6"/>
    <p:sldLayoutId id="2147483651" r:id="rId7"/>
    <p:sldLayoutId id="2147483652" r:id="rId8"/>
    <p:sldLayoutId id="2147483653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7.png"/><Relationship Id="rId7" Type="http://schemas.openxmlformats.org/officeDocument/2006/relationships/image" Target="../media/image2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17.png"/><Relationship Id="rId8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"/>
          <p:cNvGrpSpPr/>
          <p:nvPr/>
        </p:nvGrpSpPr>
        <p:grpSpPr>
          <a:xfrm>
            <a:off x="0" y="4116374"/>
            <a:ext cx="12192000" cy="2741625"/>
            <a:chOff x="0" y="4116374"/>
            <a:chExt cx="12192000" cy="2741625"/>
          </a:xfrm>
        </p:grpSpPr>
        <p:sp>
          <p:nvSpPr>
            <p:cNvPr id="52" name="Google Shape;52;p1"/>
            <p:cNvSpPr/>
            <p:nvPr/>
          </p:nvSpPr>
          <p:spPr>
            <a:xfrm>
              <a:off x="0" y="4122419"/>
              <a:ext cx="12192000" cy="2735580"/>
            </a:xfrm>
            <a:custGeom>
              <a:rect b="b" l="l" r="r" t="t"/>
              <a:pathLst>
                <a:path extrusionOk="0" h="2735579" w="12192000">
                  <a:moveTo>
                    <a:pt x="12192000" y="0"/>
                  </a:moveTo>
                  <a:lnTo>
                    <a:pt x="0" y="0"/>
                  </a:lnTo>
                  <a:lnTo>
                    <a:pt x="0" y="2735580"/>
                  </a:lnTo>
                  <a:lnTo>
                    <a:pt x="12192000" y="273558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737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3" name="Google Shape;53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4116374"/>
              <a:ext cx="12126468" cy="54223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4" name="Google Shape;5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884" y="609638"/>
            <a:ext cx="2552700" cy="59330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"/>
          <p:cNvSpPr txBox="1"/>
          <p:nvPr/>
        </p:nvSpPr>
        <p:spPr>
          <a:xfrm>
            <a:off x="1342326" y="4854575"/>
            <a:ext cx="9507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Pusat Kebijakan Pembiayaan dan Desentralisasi Kesehatan</a:t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6" name="Google Shape;56;p1"/>
          <p:cNvSpPr txBox="1"/>
          <p:nvPr>
            <p:ph type="title"/>
          </p:nvPr>
        </p:nvSpPr>
        <p:spPr>
          <a:xfrm>
            <a:off x="3574034" y="1452498"/>
            <a:ext cx="5043900" cy="9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850">
            <a:spAutoFit/>
          </a:bodyPr>
          <a:lstStyle/>
          <a:p>
            <a:pPr indent="-889000" lvl="0" marL="902970" marR="508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JAWABAN PENUGASAN MPI 4 ANGKATAN 14</a:t>
            </a:r>
            <a:endParaRPr/>
          </a:p>
        </p:txBody>
      </p:sp>
      <p:sp>
        <p:nvSpPr>
          <p:cNvPr id="57" name="Google Shape;57;p1"/>
          <p:cNvSpPr txBox="1"/>
          <p:nvPr/>
        </p:nvSpPr>
        <p:spPr>
          <a:xfrm>
            <a:off x="2412823" y="5726275"/>
            <a:ext cx="73008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61010" lvl="0" marL="473075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Pelatihan Pengkodean Diagnosis Penyakit dan Tindakan Bagi Tenaga Koder di FKRTL dalam Program JKN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64770" marR="0" rtl="0" algn="ctr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800">
                <a:solidFill>
                  <a:srgbClr val="F1F1F1"/>
                </a:solidFill>
              </a:rPr>
              <a:t>24</a:t>
            </a:r>
            <a:r>
              <a:rPr b="1" i="0" lang="en-GB" sz="1800" u="none" cap="none" strike="noStrike">
                <a:solidFill>
                  <a:srgbClr val="F1F1F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lang="en-GB" sz="1800">
                <a:solidFill>
                  <a:srgbClr val="F1F1F1"/>
                </a:solidFill>
              </a:rPr>
              <a:t>29</a:t>
            </a:r>
            <a:r>
              <a:rPr b="1" i="0" lang="en-GB" sz="1800" u="none" cap="none" strike="noStrike">
                <a:solidFill>
                  <a:srgbClr val="F1F1F1"/>
                </a:solidFill>
                <a:latin typeface="Arial"/>
                <a:ea typeface="Arial"/>
                <a:cs typeface="Arial"/>
                <a:sym typeface="Arial"/>
              </a:rPr>
              <a:t> November 2025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12002516" y="6361887"/>
            <a:ext cx="110489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1213510" y="2552192"/>
            <a:ext cx="9768205" cy="953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ctr">
              <a:lnSpc>
                <a:spcPct val="1140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GB" sz="3200" u="none" cap="none" strike="noStrike">
                <a:solidFill>
                  <a:srgbClr val="00B6AA"/>
                </a:solidFill>
                <a:latin typeface="Arial"/>
                <a:ea typeface="Arial"/>
                <a:cs typeface="Arial"/>
                <a:sym typeface="Arial"/>
              </a:rPr>
              <a:t>Optimalisasi Input Data dan Penyelesaian Masalah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40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-GB" sz="3200" u="none" cap="none" strike="noStrike">
                <a:solidFill>
                  <a:srgbClr val="00B6AA"/>
                </a:solidFill>
                <a:latin typeface="Arial"/>
                <a:ea typeface="Arial"/>
                <a:cs typeface="Arial"/>
                <a:sym typeface="Arial"/>
              </a:rPr>
              <a:t>Ungroupable </a:t>
            </a:r>
            <a:r>
              <a:rPr b="1" i="0" lang="en-GB" sz="3200" u="none" cap="none" strike="noStrike">
                <a:solidFill>
                  <a:srgbClr val="00B6AA"/>
                </a:solidFill>
                <a:latin typeface="Arial"/>
                <a:ea typeface="Arial"/>
                <a:cs typeface="Arial"/>
                <a:sym typeface="Arial"/>
              </a:rPr>
              <a:t>pada Aplikasi E-Klaim dalam iDRG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2"/>
          <p:cNvGrpSpPr/>
          <p:nvPr/>
        </p:nvGrpSpPr>
        <p:grpSpPr>
          <a:xfrm>
            <a:off x="689609" y="927353"/>
            <a:ext cx="11067415" cy="5213985"/>
            <a:chOff x="689609" y="927353"/>
            <a:chExt cx="11067415" cy="5213985"/>
          </a:xfrm>
        </p:grpSpPr>
        <p:sp>
          <p:nvSpPr>
            <p:cNvPr id="65" name="Google Shape;65;p2"/>
            <p:cNvSpPr/>
            <p:nvPr/>
          </p:nvSpPr>
          <p:spPr>
            <a:xfrm>
              <a:off x="689609" y="927353"/>
              <a:ext cx="11067415" cy="5213985"/>
            </a:xfrm>
            <a:custGeom>
              <a:rect b="b" l="l" r="r" t="t"/>
              <a:pathLst>
                <a:path extrusionOk="0" h="5213985" w="11067415">
                  <a:moveTo>
                    <a:pt x="11067288" y="0"/>
                  </a:moveTo>
                  <a:lnTo>
                    <a:pt x="0" y="0"/>
                  </a:lnTo>
                  <a:lnTo>
                    <a:pt x="0" y="5213604"/>
                  </a:lnTo>
                  <a:lnTo>
                    <a:pt x="11067288" y="5213604"/>
                  </a:lnTo>
                  <a:lnTo>
                    <a:pt x="110672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689609" y="927353"/>
              <a:ext cx="11067415" cy="5213985"/>
            </a:xfrm>
            <a:custGeom>
              <a:rect b="b" l="l" r="r" t="t"/>
              <a:pathLst>
                <a:path extrusionOk="0" h="5213985" w="11067415">
                  <a:moveTo>
                    <a:pt x="0" y="5213604"/>
                  </a:moveTo>
                  <a:lnTo>
                    <a:pt x="11067288" y="5213604"/>
                  </a:lnTo>
                  <a:lnTo>
                    <a:pt x="11067288" y="0"/>
                  </a:lnTo>
                  <a:lnTo>
                    <a:pt x="0" y="0"/>
                  </a:lnTo>
                  <a:lnTo>
                    <a:pt x="0" y="5213604"/>
                  </a:lnTo>
                  <a:close/>
                </a:path>
              </a:pathLst>
            </a:custGeom>
            <a:noFill/>
            <a:ln cap="flat" cmpd="sng" w="25900">
              <a:solidFill>
                <a:srgbClr val="DDDD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" name="Google Shape;67;p2"/>
          <p:cNvSpPr txBox="1"/>
          <p:nvPr>
            <p:ph type="title"/>
          </p:nvPr>
        </p:nvSpPr>
        <p:spPr>
          <a:xfrm>
            <a:off x="1886711" y="207263"/>
            <a:ext cx="8418830" cy="411480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PANDUAN STUDI KASUS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 txBox="1"/>
          <p:nvPr>
            <p:ph idx="12" type="sldNum"/>
          </p:nvPr>
        </p:nvSpPr>
        <p:spPr>
          <a:xfrm>
            <a:off x="11606276" y="6375713"/>
            <a:ext cx="234315" cy="196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2"/>
          <p:cNvSpPr txBox="1"/>
          <p:nvPr/>
        </p:nvSpPr>
        <p:spPr>
          <a:xfrm>
            <a:off x="1038250" y="6405695"/>
            <a:ext cx="4841240" cy="366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4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3E3E3E"/>
                </a:solidFill>
                <a:latin typeface="Arial"/>
                <a:ea typeface="Arial"/>
                <a:cs typeface="Arial"/>
                <a:sym typeface="Arial"/>
              </a:rPr>
              <a:t>Waktu: 2 JPL x 45 menit = 90 menit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767587" y="1074546"/>
            <a:ext cx="10852785" cy="4294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Tujuan: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setelah melakukan latihan ini, peserta mampu mengoperasionalkan Aplikasi e-klaim, antara lain: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8765" lvl="0" marL="2914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Menginput klaim pada aplikasi eklaim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292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Mengidentifikasi permasalahan pada saat penginputan aplikasi klaim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Langkah-langkah: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30670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1.Pada hari sebelum Materi Pelatihan Inti 4, peserta diminta membaca modul aplikasi e-klaim 2.Fasilitator membagi peserta menjadi 6 kelompok dengan masing-masing peserta 5 orang (5 menit).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2700" marR="339090" rtl="0" algn="just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AutoNum type="arabicPeriod" startAt="3"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Setiap Peserta dan Kelompok melakukan latihan cara mengoperasionalkan aplikasi e-klaim (30 menit)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3995" lvl="0" marL="22479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AutoNum type="arabicPeriod" startAt="3"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Setiap Peserta dan Kelompok melakukan input data dan grouping menggunakan aplikasi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eklaim (30 menit)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4630" lvl="0" marL="22479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AutoNum type="arabicPeriod" startAt="5"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Diskusi tanya jawab (25 menit)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3"/>
          <p:cNvGrpSpPr/>
          <p:nvPr/>
        </p:nvGrpSpPr>
        <p:grpSpPr>
          <a:xfrm>
            <a:off x="689609" y="927353"/>
            <a:ext cx="11067415" cy="5213985"/>
            <a:chOff x="689609" y="927353"/>
            <a:chExt cx="11067415" cy="5213985"/>
          </a:xfrm>
        </p:grpSpPr>
        <p:sp>
          <p:nvSpPr>
            <p:cNvPr id="76" name="Google Shape;76;p3"/>
            <p:cNvSpPr/>
            <p:nvPr/>
          </p:nvSpPr>
          <p:spPr>
            <a:xfrm>
              <a:off x="689609" y="927353"/>
              <a:ext cx="11067415" cy="5213985"/>
            </a:xfrm>
            <a:custGeom>
              <a:rect b="b" l="l" r="r" t="t"/>
              <a:pathLst>
                <a:path extrusionOk="0" h="5213985" w="11067415">
                  <a:moveTo>
                    <a:pt x="11067288" y="0"/>
                  </a:moveTo>
                  <a:lnTo>
                    <a:pt x="0" y="0"/>
                  </a:lnTo>
                  <a:lnTo>
                    <a:pt x="0" y="5213604"/>
                  </a:lnTo>
                  <a:lnTo>
                    <a:pt x="11067288" y="5213604"/>
                  </a:lnTo>
                  <a:lnTo>
                    <a:pt x="110672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689609" y="927353"/>
              <a:ext cx="11067415" cy="5213985"/>
            </a:xfrm>
            <a:custGeom>
              <a:rect b="b" l="l" r="r" t="t"/>
              <a:pathLst>
                <a:path extrusionOk="0" h="5213985" w="11067415">
                  <a:moveTo>
                    <a:pt x="0" y="5213604"/>
                  </a:moveTo>
                  <a:lnTo>
                    <a:pt x="11067288" y="5213604"/>
                  </a:lnTo>
                  <a:lnTo>
                    <a:pt x="11067288" y="0"/>
                  </a:lnTo>
                  <a:lnTo>
                    <a:pt x="0" y="0"/>
                  </a:lnTo>
                  <a:lnTo>
                    <a:pt x="0" y="5213604"/>
                  </a:lnTo>
                  <a:close/>
                </a:path>
              </a:pathLst>
            </a:custGeom>
            <a:noFill/>
            <a:ln cap="flat" cmpd="sng" w="25900">
              <a:solidFill>
                <a:srgbClr val="DDDD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" name="Google Shape;78;p3"/>
          <p:cNvSpPr txBox="1"/>
          <p:nvPr>
            <p:ph type="title"/>
          </p:nvPr>
        </p:nvSpPr>
        <p:spPr>
          <a:xfrm>
            <a:off x="1886711" y="207263"/>
            <a:ext cx="8418830" cy="411480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7727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TERDIRI DARI 6 KASUS RESUME MEDIS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 txBox="1"/>
          <p:nvPr>
            <p:ph idx="12" type="sldNum"/>
          </p:nvPr>
        </p:nvSpPr>
        <p:spPr>
          <a:xfrm>
            <a:off x="11606276" y="6375713"/>
            <a:ext cx="234315" cy="196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0" name="Google Shape;80;p3"/>
          <p:cNvSpPr txBox="1"/>
          <p:nvPr/>
        </p:nvSpPr>
        <p:spPr>
          <a:xfrm>
            <a:off x="1038250" y="6405695"/>
            <a:ext cx="4841240" cy="366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4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3E3E3E"/>
                </a:solidFill>
                <a:latin typeface="Arial"/>
                <a:ea typeface="Arial"/>
                <a:cs typeface="Arial"/>
                <a:sym typeface="Arial"/>
              </a:rPr>
              <a:t>Waktu: 2 JPL x 45 menit = 90 menit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 txBox="1"/>
          <p:nvPr>
            <p:ph idx="1" type="body"/>
          </p:nvPr>
        </p:nvSpPr>
        <p:spPr>
          <a:xfrm>
            <a:off x="767587" y="1226946"/>
            <a:ext cx="10913110" cy="4322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Langkah Pengerjaan Penugasan</a:t>
            </a:r>
            <a:endParaRPr/>
          </a:p>
          <a:p>
            <a:pPr indent="-45656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GB"/>
              <a:t>Jalankan aplikasi E-klaim pada laptop masing-masing</a:t>
            </a:r>
            <a:endParaRPr/>
          </a:p>
          <a:p>
            <a:pPr indent="-45656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GB"/>
              <a:t>Inputlah kedalam aplikasi Eklaim (Hanya grouping IDRG):</a:t>
            </a:r>
            <a:endParaRPr/>
          </a:p>
          <a:p>
            <a:pPr indent="-457200" lvl="0" marL="469900" marR="69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GB"/>
              <a:t>Identitas pasien sesuai dengan resume medis (No RM, Nama, Jenis Kelamin dan tanggal lahir)</a:t>
            </a:r>
            <a:endParaRPr/>
          </a:p>
          <a:p>
            <a:pPr indent="-45656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i="1" lang="en-GB">
                <a:latin typeface="Arial"/>
                <a:ea typeface="Arial"/>
                <a:cs typeface="Arial"/>
                <a:sym typeface="Arial"/>
              </a:rPr>
              <a:t>Billing </a:t>
            </a:r>
            <a:r>
              <a:rPr lang="en-GB"/>
              <a:t>pasien sesuai dengan variabel </a:t>
            </a:r>
            <a:r>
              <a:rPr i="1" lang="en-GB">
                <a:latin typeface="Arial"/>
                <a:ea typeface="Arial"/>
                <a:cs typeface="Arial"/>
                <a:sym typeface="Arial"/>
              </a:rPr>
              <a:t>billing </a:t>
            </a:r>
            <a:r>
              <a:rPr lang="en-GB"/>
              <a:t>pada aplikasi Eklaim</a:t>
            </a:r>
            <a:endParaRPr/>
          </a:p>
          <a:p>
            <a:pPr indent="-45656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GB"/>
              <a:t>Kode ICD 10 dan ICD 9 CM hanya yang ada pada resume medis sesuai dengan ketentuan</a:t>
            </a:r>
            <a:endParaRPr/>
          </a:p>
          <a:p>
            <a:pPr indent="0" lvl="0" marL="4699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1400"/>
              <a:buNone/>
            </a:pPr>
            <a:r>
              <a:rPr lang="en-GB"/>
              <a:t>koding klaim JKN</a:t>
            </a:r>
            <a:endParaRPr/>
          </a:p>
          <a:p>
            <a:pPr indent="-457200" lvl="0" marL="469900" marR="69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 startAt="6"/>
            </a:pPr>
            <a:r>
              <a:rPr i="1" lang="en-GB">
                <a:latin typeface="Arial"/>
                <a:ea typeface="Arial"/>
                <a:cs typeface="Arial"/>
                <a:sym typeface="Arial"/>
              </a:rPr>
              <a:t>Capture	</a:t>
            </a:r>
            <a:r>
              <a:rPr lang="en-GB"/>
              <a:t>hasil	groupingnya	pada	google	slide	yang	telah	disediakan	masing-masing kelompok sesuai yang ada di resume medis</a:t>
            </a:r>
            <a:endParaRPr/>
          </a:p>
          <a:p>
            <a:pPr indent="-45656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 startAt="6"/>
            </a:pPr>
            <a:r>
              <a:rPr lang="en-GB"/>
              <a:t>Tuliskan hasil grouping IDRG dari E-klaim yang sudah diinputkan.</a:t>
            </a:r>
            <a:endParaRPr/>
          </a:p>
          <a:p>
            <a:pPr indent="-457200" lvl="0" marL="469900" marR="1574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 startAt="6"/>
            </a:pPr>
            <a:r>
              <a:rPr lang="en-GB"/>
              <a:t>Jika terjadi </a:t>
            </a:r>
            <a:r>
              <a:rPr i="1" lang="en-GB">
                <a:latin typeface="Arial"/>
                <a:ea typeface="Arial"/>
                <a:cs typeface="Arial"/>
                <a:sym typeface="Arial"/>
              </a:rPr>
              <a:t>error </a:t>
            </a:r>
            <a:r>
              <a:rPr lang="en-GB"/>
              <a:t>grouping/</a:t>
            </a:r>
            <a:r>
              <a:rPr i="1" lang="en-GB">
                <a:latin typeface="Arial"/>
                <a:ea typeface="Arial"/>
                <a:cs typeface="Arial"/>
                <a:sym typeface="Arial"/>
              </a:rPr>
              <a:t>ungroupable</a:t>
            </a:r>
            <a:r>
              <a:rPr lang="en-GB"/>
              <a:t>. maka identifikasilah permasalahan yang terjadi dan alternatif solusinya, termasuk jika ada kode IM, dientry juga dan </a:t>
            </a:r>
            <a:r>
              <a:rPr i="1" lang="en-GB">
                <a:latin typeface="Arial"/>
                <a:ea typeface="Arial"/>
                <a:cs typeface="Arial"/>
                <a:sym typeface="Arial"/>
              </a:rPr>
              <a:t>Capture </a:t>
            </a:r>
            <a:r>
              <a:rPr lang="en-GB"/>
              <a:t>kembali hasil groupingnya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3800" y="0"/>
            <a:ext cx="838200" cy="839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047"/>
            <a:ext cx="842772" cy="851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17735" y="6204203"/>
            <a:ext cx="2103120" cy="466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6018276"/>
            <a:ext cx="850391" cy="839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99058"/>
            <a:ext cx="11868912" cy="665988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"/>
          <p:cNvSpPr txBox="1"/>
          <p:nvPr>
            <p:ph idx="12" type="sldNum"/>
          </p:nvPr>
        </p:nvSpPr>
        <p:spPr>
          <a:xfrm>
            <a:off x="11606276" y="6375713"/>
            <a:ext cx="234315" cy="196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97" name="Google Shape;97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353800" y="0"/>
              <a:ext cx="838200" cy="8397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3047"/>
              <a:ext cx="842772" cy="8519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317735" y="6204203"/>
              <a:ext cx="2103120" cy="4663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0" y="6018276"/>
              <a:ext cx="850391" cy="8397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2" name="Google Shape;102;p5"/>
          <p:cNvSpPr txBox="1"/>
          <p:nvPr>
            <p:ph type="title"/>
          </p:nvPr>
        </p:nvSpPr>
        <p:spPr>
          <a:xfrm>
            <a:off x="899160" y="281940"/>
            <a:ext cx="8418830" cy="411480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1440" rtl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Jawaban Soal No. 1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7719821" y="895350"/>
            <a:ext cx="4399915" cy="5294630"/>
          </a:xfrm>
          <a:prstGeom prst="rect">
            <a:avLst/>
          </a:prstGeom>
          <a:noFill/>
          <a:ln cap="flat" cmpd="sng" w="259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4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HASIL GROUPING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499744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MDC </a:t>
            </a:r>
            <a:r>
              <a:rPr b="0" i="0" lang="en-GB" sz="1400" u="none" cap="none" strike="noStrike">
                <a:solidFill>
                  <a:srgbClr val="00AF5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Ungroupable or Unrelated </a:t>
            </a:r>
            <a:r>
              <a:rPr b="0" i="0" lang="en-GB" sz="2000" u="none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DRG </a:t>
            </a:r>
            <a:r>
              <a:rPr b="0" i="0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GB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Error: Rehab. Comprehensive Exam. w/o Diagnostic Procedures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720851"/>
            <a:ext cx="7569708" cy="574090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/>
          <p:cNvSpPr txBox="1"/>
          <p:nvPr>
            <p:ph idx="12" type="sldNum"/>
          </p:nvPr>
        </p:nvSpPr>
        <p:spPr>
          <a:xfrm>
            <a:off x="11606276" y="6375713"/>
            <a:ext cx="234315" cy="196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/>
          <p:nvPr>
            <p:ph type="title"/>
          </p:nvPr>
        </p:nvSpPr>
        <p:spPr>
          <a:xfrm>
            <a:off x="899160" y="281940"/>
            <a:ext cx="8418830" cy="411480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1440" rtl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Jawaban Soal No. 1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6"/>
          <p:cNvSpPr txBox="1"/>
          <p:nvPr>
            <p:ph idx="12" type="sldNum"/>
          </p:nvPr>
        </p:nvSpPr>
        <p:spPr>
          <a:xfrm>
            <a:off x="11606276" y="6375713"/>
            <a:ext cx="234315" cy="196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6"/>
          <p:cNvSpPr txBox="1"/>
          <p:nvPr/>
        </p:nvSpPr>
        <p:spPr>
          <a:xfrm>
            <a:off x="7719821" y="895350"/>
            <a:ext cx="4399915" cy="4106252"/>
          </a:xfrm>
          <a:prstGeom prst="rect">
            <a:avLst/>
          </a:prstGeom>
          <a:noFill/>
          <a:ln cap="flat" cmpd="sng" w="259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AKAR PERMASALAHAN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Diagnosa utama tidak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berkaitan/</a:t>
            </a:r>
            <a:r>
              <a:rPr b="0" i="1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unrelated </a:t>
            </a:r>
            <a:r>
              <a:rPr b="0" i="0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dengan tindakan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1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PENYELESAIAN	MASALAH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535" lvl="0" marL="434975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GB" sz="1800" u="none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Ditambahkan Kode Uji Fungsi (93.01)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535" lvl="0" marL="4349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GB" sz="1800" u="none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Ditambahkan kode Diathermy (93.34)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95350"/>
            <a:ext cx="7543800" cy="567657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6"/>
          <p:cNvSpPr/>
          <p:nvPr/>
        </p:nvSpPr>
        <p:spPr>
          <a:xfrm>
            <a:off x="457200" y="3200400"/>
            <a:ext cx="2362200" cy="609600"/>
          </a:xfrm>
          <a:prstGeom prst="rect">
            <a:avLst/>
          </a:prstGeom>
          <a:noFill/>
          <a:ln cap="flat" cmpd="sng" w="63500">
            <a:solidFill>
              <a:srgbClr val="FF0000">
                <a:alpha val="91372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86383"/>
            <a:ext cx="7639811" cy="540258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7"/>
          <p:cNvSpPr txBox="1"/>
          <p:nvPr>
            <p:ph type="title"/>
          </p:nvPr>
        </p:nvSpPr>
        <p:spPr>
          <a:xfrm>
            <a:off x="899160" y="281940"/>
            <a:ext cx="8418830" cy="411480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1440" rtl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Jawaban Soal No. 2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7"/>
          <p:cNvSpPr txBox="1"/>
          <p:nvPr>
            <p:ph idx="12" type="sldNum"/>
          </p:nvPr>
        </p:nvSpPr>
        <p:spPr>
          <a:xfrm>
            <a:off x="11606276" y="6375713"/>
            <a:ext cx="234315" cy="196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2" name="Google Shape;122;p7"/>
          <p:cNvSpPr txBox="1"/>
          <p:nvPr/>
        </p:nvSpPr>
        <p:spPr>
          <a:xfrm>
            <a:off x="7719821" y="895350"/>
            <a:ext cx="4399915" cy="5294630"/>
          </a:xfrm>
          <a:prstGeom prst="rect">
            <a:avLst/>
          </a:prstGeom>
          <a:noFill/>
          <a:ln cap="flat" cmpd="sng" w="259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2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HASIL GROUPING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64706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MDC </a:t>
            </a:r>
            <a:r>
              <a:rPr b="0" i="0" lang="en-GB" sz="1400" u="none" cap="none" strike="noStrike">
                <a:solidFill>
                  <a:srgbClr val="00AF5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Ungroupable or Unrelated </a:t>
            </a:r>
            <a:r>
              <a:rPr b="0" i="0" lang="en-GB" sz="2000" u="none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DRG </a:t>
            </a:r>
            <a:r>
              <a:rPr b="0" i="0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: Unacceptable obs. diag. comb. 0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8"/>
          <p:cNvGrpSpPr/>
          <p:nvPr/>
        </p:nvGrpSpPr>
        <p:grpSpPr>
          <a:xfrm>
            <a:off x="0" y="752855"/>
            <a:ext cx="7620000" cy="5533644"/>
            <a:chOff x="0" y="752855"/>
            <a:chExt cx="7620000" cy="5533644"/>
          </a:xfrm>
        </p:grpSpPr>
        <p:pic>
          <p:nvPicPr>
            <p:cNvPr id="128" name="Google Shape;128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752855"/>
              <a:ext cx="7620000" cy="55336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" name="Google Shape;129;p8"/>
            <p:cNvSpPr/>
            <p:nvPr/>
          </p:nvSpPr>
          <p:spPr>
            <a:xfrm>
              <a:off x="747522" y="2082545"/>
              <a:ext cx="2395855" cy="472440"/>
            </a:xfrm>
            <a:custGeom>
              <a:rect b="b" l="l" r="r" t="t"/>
              <a:pathLst>
                <a:path extrusionOk="0" h="472439" w="2395855">
                  <a:moveTo>
                    <a:pt x="0" y="472439"/>
                  </a:moveTo>
                  <a:lnTo>
                    <a:pt x="2395728" y="472439"/>
                  </a:lnTo>
                  <a:lnTo>
                    <a:pt x="2395728" y="0"/>
                  </a:lnTo>
                  <a:lnTo>
                    <a:pt x="0" y="0"/>
                  </a:lnTo>
                  <a:lnTo>
                    <a:pt x="0" y="472439"/>
                  </a:lnTo>
                  <a:close/>
                </a:path>
              </a:pathLst>
            </a:custGeom>
            <a:noFill/>
            <a:ln cap="flat" cmpd="sng" w="25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0" name="Google Shape;130;p8"/>
          <p:cNvSpPr txBox="1"/>
          <p:nvPr>
            <p:ph type="title"/>
          </p:nvPr>
        </p:nvSpPr>
        <p:spPr>
          <a:xfrm>
            <a:off x="899160" y="281940"/>
            <a:ext cx="8418830" cy="411480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1440" rtl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Jawaban Soal No. 2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8"/>
          <p:cNvSpPr txBox="1"/>
          <p:nvPr>
            <p:ph idx="12" type="sldNum"/>
          </p:nvPr>
        </p:nvSpPr>
        <p:spPr>
          <a:xfrm>
            <a:off x="11606276" y="6375713"/>
            <a:ext cx="234315" cy="196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2" name="Google Shape;132;p8"/>
          <p:cNvSpPr txBox="1"/>
          <p:nvPr/>
        </p:nvSpPr>
        <p:spPr>
          <a:xfrm>
            <a:off x="7719821" y="895350"/>
            <a:ext cx="4399915" cy="5294630"/>
          </a:xfrm>
          <a:prstGeom prst="rect">
            <a:avLst/>
          </a:prstGeom>
          <a:noFill/>
          <a:ln cap="flat" cmpd="sng" w="259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8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AKAR PERMASALAHAN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34417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Diagnosa Tidak Diterima, Outcome Of Delivery belum dientry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1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PENYELESAIAN	MASALAH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535" lvl="0" marL="434975" marR="62992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GB" sz="1800" u="none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Selalu Pedomani Condition(s) Of Mother, Method Of Delivery dan Outcome Of Delivery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535" lvl="0" marL="4349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GB" sz="1800" u="none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Ditambahkan kode Z37.3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66572"/>
            <a:ext cx="7639811" cy="564794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9"/>
          <p:cNvSpPr txBox="1"/>
          <p:nvPr>
            <p:ph type="title"/>
          </p:nvPr>
        </p:nvSpPr>
        <p:spPr>
          <a:xfrm>
            <a:off x="899160" y="281940"/>
            <a:ext cx="8418830" cy="411480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1440" rtl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Jawaban Soal No. 3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9"/>
          <p:cNvSpPr txBox="1"/>
          <p:nvPr>
            <p:ph idx="12" type="sldNum"/>
          </p:nvPr>
        </p:nvSpPr>
        <p:spPr>
          <a:xfrm>
            <a:off x="11606276" y="6375713"/>
            <a:ext cx="234315" cy="196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0" name="Google Shape;140;p9"/>
          <p:cNvSpPr txBox="1"/>
          <p:nvPr/>
        </p:nvSpPr>
        <p:spPr>
          <a:xfrm>
            <a:off x="7719821" y="895350"/>
            <a:ext cx="4399915" cy="5294630"/>
          </a:xfrm>
          <a:prstGeom prst="rect">
            <a:avLst/>
          </a:prstGeom>
          <a:noFill/>
          <a:ln cap="flat" cmpd="sng" w="259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HASIL GROUPING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60642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MDC </a:t>
            </a:r>
            <a:r>
              <a:rPr b="0" i="0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: Ungroupable or Unrelated </a:t>
            </a:r>
            <a:r>
              <a:rPr b="0" i="0" lang="en-GB" sz="2000" u="none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DRG </a:t>
            </a:r>
            <a:r>
              <a:rPr b="0" i="0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: Unrelated OR Procedures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52855"/>
            <a:ext cx="7569708" cy="553364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0"/>
          <p:cNvSpPr txBox="1"/>
          <p:nvPr>
            <p:ph type="title"/>
          </p:nvPr>
        </p:nvSpPr>
        <p:spPr>
          <a:xfrm>
            <a:off x="899160" y="281940"/>
            <a:ext cx="8418830" cy="359073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1440" rtl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Jawaban Soal No. 3 (1)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0"/>
          <p:cNvSpPr txBox="1"/>
          <p:nvPr>
            <p:ph idx="12" type="sldNum"/>
          </p:nvPr>
        </p:nvSpPr>
        <p:spPr>
          <a:xfrm>
            <a:off x="11606276" y="6375713"/>
            <a:ext cx="234315" cy="196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8" name="Google Shape;148;p10"/>
          <p:cNvSpPr txBox="1"/>
          <p:nvPr/>
        </p:nvSpPr>
        <p:spPr>
          <a:xfrm>
            <a:off x="7719821" y="895350"/>
            <a:ext cx="4399915" cy="4750018"/>
          </a:xfrm>
          <a:prstGeom prst="rect">
            <a:avLst/>
          </a:prstGeom>
          <a:noFill/>
          <a:ln cap="flat" cmpd="sng" w="259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92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AKAR PERMASALAHAN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Diagnosa utama tidak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berkaitan/</a:t>
            </a:r>
            <a:r>
              <a:rPr b="0" i="1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unrelated </a:t>
            </a:r>
            <a:r>
              <a:rPr b="0" i="0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dengan tindakan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1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PENYELESAIAN	MASALAH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535" lvl="0" marL="434975" marR="17462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GB" sz="1800" u="none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Ganti kode DU menjadi E11.5, jika Debridement (86.22) dilakukan di Kamar Operasi, karena kemungkinan resource nya lebih besar dari J15.0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535" lvl="0" marL="434975" marR="3752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GB" sz="1800" u="none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Jika Debridement yang dimaksud bukan dilakuakn di kamar Operasi, ganti kode menjadi 86.28, DU tetap J15.0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533400" y="1447800"/>
            <a:ext cx="4191000" cy="457200"/>
          </a:xfrm>
          <a:prstGeom prst="rect">
            <a:avLst/>
          </a:prstGeom>
          <a:noFill/>
          <a:ln cap="flat" cmpd="sng" w="34925">
            <a:solidFill>
              <a:srgbClr val="FF0000">
                <a:alpha val="87450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74191"/>
            <a:ext cx="7609332" cy="551230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1"/>
          <p:cNvSpPr txBox="1"/>
          <p:nvPr>
            <p:ph type="title"/>
          </p:nvPr>
        </p:nvSpPr>
        <p:spPr>
          <a:xfrm>
            <a:off x="899160" y="281940"/>
            <a:ext cx="8418830" cy="359073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1440" rtl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Jawaban Soal No. 3 (2)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1"/>
          <p:cNvSpPr txBox="1"/>
          <p:nvPr>
            <p:ph idx="12" type="sldNum"/>
          </p:nvPr>
        </p:nvSpPr>
        <p:spPr>
          <a:xfrm>
            <a:off x="11606276" y="6375713"/>
            <a:ext cx="234315" cy="196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8" name="Google Shape;158;p11"/>
          <p:cNvSpPr txBox="1"/>
          <p:nvPr/>
        </p:nvSpPr>
        <p:spPr>
          <a:xfrm>
            <a:off x="7719821" y="895350"/>
            <a:ext cx="4399915" cy="5294630"/>
          </a:xfrm>
          <a:prstGeom prst="rect">
            <a:avLst/>
          </a:prstGeom>
          <a:noFill/>
          <a:ln cap="flat" cmpd="sng" w="259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92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AKAR PERMASALAHAN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Diagnosa utama tidak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berkaitan/</a:t>
            </a:r>
            <a:r>
              <a:rPr b="0" i="1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unrelated </a:t>
            </a:r>
            <a:r>
              <a:rPr b="0" i="0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dengan tindakan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1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PENYELESAIAN	MASALAH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535" lvl="0" marL="434975" marR="17462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GB" sz="1800" u="none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Ganti kode DU menjadi E11.5, jika Debridement (86.22) dilakukan di Kamar Operasi, karean kemungkinan resource nya lebih besar dari J15.0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535" lvl="0" marL="434975" marR="3752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GB" sz="1800" u="none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Jika Debridement yang dimaksud bukan dilakuakn di Kamar Operasi, ganti kode menjadi 86.28, DU tetap J15.0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1"/>
          <p:cNvSpPr/>
          <p:nvPr/>
        </p:nvSpPr>
        <p:spPr>
          <a:xfrm>
            <a:off x="457200" y="2743200"/>
            <a:ext cx="3657600" cy="381000"/>
          </a:xfrm>
          <a:prstGeom prst="rect">
            <a:avLst/>
          </a:prstGeom>
          <a:noFill/>
          <a:ln cap="flat" cmpd="sng" w="41275">
            <a:solidFill>
              <a:srgbClr val="FF0000">
                <a:alpha val="93333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2"/>
          <p:cNvGrpSpPr/>
          <p:nvPr/>
        </p:nvGrpSpPr>
        <p:grpSpPr>
          <a:xfrm>
            <a:off x="0" y="709422"/>
            <a:ext cx="7559040" cy="5479542"/>
            <a:chOff x="0" y="709422"/>
            <a:chExt cx="7559040" cy="5479542"/>
          </a:xfrm>
        </p:grpSpPr>
        <p:pic>
          <p:nvPicPr>
            <p:cNvPr id="165" name="Google Shape;165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778764"/>
              <a:ext cx="7559040" cy="541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12"/>
            <p:cNvSpPr/>
            <p:nvPr/>
          </p:nvSpPr>
          <p:spPr>
            <a:xfrm>
              <a:off x="2652522" y="709422"/>
              <a:ext cx="1087120" cy="490855"/>
            </a:xfrm>
            <a:custGeom>
              <a:rect b="b" l="l" r="r" t="t"/>
              <a:pathLst>
                <a:path extrusionOk="0" h="490855" w="1087120">
                  <a:moveTo>
                    <a:pt x="245363" y="0"/>
                  </a:moveTo>
                  <a:lnTo>
                    <a:pt x="0" y="245363"/>
                  </a:lnTo>
                  <a:lnTo>
                    <a:pt x="245363" y="490727"/>
                  </a:lnTo>
                  <a:lnTo>
                    <a:pt x="245363" y="368045"/>
                  </a:lnTo>
                  <a:lnTo>
                    <a:pt x="1086612" y="368045"/>
                  </a:lnTo>
                  <a:lnTo>
                    <a:pt x="1086612" y="122681"/>
                  </a:lnTo>
                  <a:lnTo>
                    <a:pt x="245363" y="122681"/>
                  </a:lnTo>
                  <a:lnTo>
                    <a:pt x="245363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2"/>
            <p:cNvSpPr/>
            <p:nvPr/>
          </p:nvSpPr>
          <p:spPr>
            <a:xfrm>
              <a:off x="2652522" y="709422"/>
              <a:ext cx="1087120" cy="490855"/>
            </a:xfrm>
            <a:custGeom>
              <a:rect b="b" l="l" r="r" t="t"/>
              <a:pathLst>
                <a:path extrusionOk="0" h="490855" w="1087120">
                  <a:moveTo>
                    <a:pt x="0" y="245363"/>
                  </a:moveTo>
                  <a:lnTo>
                    <a:pt x="245363" y="0"/>
                  </a:lnTo>
                  <a:lnTo>
                    <a:pt x="245363" y="122681"/>
                  </a:lnTo>
                  <a:lnTo>
                    <a:pt x="1086612" y="122681"/>
                  </a:lnTo>
                  <a:lnTo>
                    <a:pt x="1086612" y="368045"/>
                  </a:lnTo>
                  <a:lnTo>
                    <a:pt x="245363" y="368045"/>
                  </a:lnTo>
                  <a:lnTo>
                    <a:pt x="245363" y="490727"/>
                  </a:lnTo>
                  <a:lnTo>
                    <a:pt x="0" y="245363"/>
                  </a:lnTo>
                  <a:close/>
                </a:path>
              </a:pathLst>
            </a:custGeom>
            <a:noFill/>
            <a:ln cap="flat" cmpd="sng" w="25900">
              <a:solidFill>
                <a:srgbClr val="A1A1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8" name="Google Shape;168;p12"/>
          <p:cNvSpPr txBox="1"/>
          <p:nvPr>
            <p:ph type="title"/>
          </p:nvPr>
        </p:nvSpPr>
        <p:spPr>
          <a:xfrm>
            <a:off x="899160" y="281940"/>
            <a:ext cx="8418830" cy="411480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1440" rtl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Jawaban Soal No. 4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2"/>
          <p:cNvSpPr txBox="1"/>
          <p:nvPr>
            <p:ph idx="12" type="sldNum"/>
          </p:nvPr>
        </p:nvSpPr>
        <p:spPr>
          <a:xfrm>
            <a:off x="11606276" y="6375713"/>
            <a:ext cx="234315" cy="196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0" name="Google Shape;170;p12"/>
          <p:cNvSpPr txBox="1"/>
          <p:nvPr/>
        </p:nvSpPr>
        <p:spPr>
          <a:xfrm>
            <a:off x="7719821" y="895350"/>
            <a:ext cx="4399915" cy="5294630"/>
          </a:xfrm>
          <a:prstGeom prst="rect">
            <a:avLst/>
          </a:prstGeom>
          <a:noFill/>
          <a:ln cap="flat" cmpd="sng" w="259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2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HASIL GROUPING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36195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MDC </a:t>
            </a:r>
            <a:r>
              <a:rPr b="0" i="0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: Ungroupable or Unrelated </a:t>
            </a:r>
            <a:r>
              <a:rPr b="0" i="0" lang="en-GB" sz="2000" u="none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DRG </a:t>
            </a:r>
            <a:r>
              <a:rPr b="0" i="0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: Diagnosis code H25.2 is not valid for patient's age : 28 years 11322 10591 54786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2"/>
          <p:cNvSpPr txBox="1"/>
          <p:nvPr/>
        </p:nvSpPr>
        <p:spPr>
          <a:xfrm>
            <a:off x="2869183" y="828294"/>
            <a:ext cx="77597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28 Tahun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"/>
          <p:cNvSpPr/>
          <p:nvPr/>
        </p:nvSpPr>
        <p:spPr>
          <a:xfrm>
            <a:off x="899160" y="281940"/>
            <a:ext cx="8418830" cy="411480"/>
          </a:xfrm>
          <a:custGeom>
            <a:rect b="b" l="l" r="r" t="t"/>
            <a:pathLst>
              <a:path extrusionOk="0" h="411480" w="8418830">
                <a:moveTo>
                  <a:pt x="8418576" y="0"/>
                </a:moveTo>
                <a:lnTo>
                  <a:pt x="0" y="0"/>
                </a:lnTo>
                <a:lnTo>
                  <a:pt x="0" y="411479"/>
                </a:lnTo>
                <a:lnTo>
                  <a:pt x="8418576" y="411479"/>
                </a:lnTo>
                <a:lnTo>
                  <a:pt x="8418576" y="0"/>
                </a:lnTo>
                <a:close/>
              </a:path>
            </a:pathLst>
          </a:custGeom>
          <a:solidFill>
            <a:srgbClr val="00A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3"/>
          <p:cNvSpPr txBox="1"/>
          <p:nvPr>
            <p:ph type="title"/>
          </p:nvPr>
        </p:nvSpPr>
        <p:spPr>
          <a:xfrm>
            <a:off x="978204" y="261365"/>
            <a:ext cx="4355796" cy="38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Jawaban Soal No. 4  (1)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3"/>
          <p:cNvSpPr txBox="1"/>
          <p:nvPr/>
        </p:nvSpPr>
        <p:spPr>
          <a:xfrm>
            <a:off x="7719821" y="895350"/>
            <a:ext cx="4399915" cy="5294630"/>
          </a:xfrm>
          <a:prstGeom prst="rect">
            <a:avLst/>
          </a:prstGeom>
          <a:noFill/>
          <a:ln cap="flat" cmpd="sng" w="259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908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AKAR PERMASALAHAN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51625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Diagnosa utama tidak berkaitan/</a:t>
            </a:r>
            <a:r>
              <a:rPr b="0" i="1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unrelated </a:t>
            </a:r>
            <a:r>
              <a:rPr b="0" i="0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dengan Umur Pasien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5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PENYELESAIAN	MASALAH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535" lvl="0" marL="434975" marR="17335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GB" sz="1800" u="none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Cek lagi inputan tanggal lahir (umur) pasien, Kode H25.x akan support jika umur pasien lebih dari 30 Tahun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535" lvl="0" marL="434975" marR="616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GB" sz="1800" u="none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Tambahkan Lateralisasi Kode IM (HL00, Right Eye)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0" name="Google Shape;180;p13"/>
          <p:cNvGrpSpPr/>
          <p:nvPr/>
        </p:nvGrpSpPr>
        <p:grpSpPr>
          <a:xfrm>
            <a:off x="0" y="669798"/>
            <a:ext cx="7517892" cy="5519165"/>
            <a:chOff x="0" y="669798"/>
            <a:chExt cx="7517892" cy="5519165"/>
          </a:xfrm>
        </p:grpSpPr>
        <p:pic>
          <p:nvPicPr>
            <p:cNvPr id="181" name="Google Shape;18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775715"/>
              <a:ext cx="7517892" cy="54132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" name="Google Shape;182;p13"/>
            <p:cNvSpPr/>
            <p:nvPr/>
          </p:nvSpPr>
          <p:spPr>
            <a:xfrm>
              <a:off x="2654045" y="669798"/>
              <a:ext cx="1156970" cy="591820"/>
            </a:xfrm>
            <a:custGeom>
              <a:rect b="b" l="l" r="r" t="t"/>
              <a:pathLst>
                <a:path extrusionOk="0" h="591819" w="1156970">
                  <a:moveTo>
                    <a:pt x="295656" y="0"/>
                  </a:moveTo>
                  <a:lnTo>
                    <a:pt x="0" y="295655"/>
                  </a:lnTo>
                  <a:lnTo>
                    <a:pt x="295656" y="591312"/>
                  </a:lnTo>
                  <a:lnTo>
                    <a:pt x="295656" y="443484"/>
                  </a:lnTo>
                  <a:lnTo>
                    <a:pt x="1156716" y="443484"/>
                  </a:lnTo>
                  <a:lnTo>
                    <a:pt x="1156716" y="147827"/>
                  </a:lnTo>
                  <a:lnTo>
                    <a:pt x="295656" y="147827"/>
                  </a:lnTo>
                  <a:lnTo>
                    <a:pt x="295656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3"/>
            <p:cNvSpPr/>
            <p:nvPr/>
          </p:nvSpPr>
          <p:spPr>
            <a:xfrm>
              <a:off x="2654045" y="669798"/>
              <a:ext cx="1156970" cy="591820"/>
            </a:xfrm>
            <a:custGeom>
              <a:rect b="b" l="l" r="r" t="t"/>
              <a:pathLst>
                <a:path extrusionOk="0" h="591819" w="1156970">
                  <a:moveTo>
                    <a:pt x="0" y="295655"/>
                  </a:moveTo>
                  <a:lnTo>
                    <a:pt x="295656" y="0"/>
                  </a:lnTo>
                  <a:lnTo>
                    <a:pt x="295656" y="147827"/>
                  </a:lnTo>
                  <a:lnTo>
                    <a:pt x="1156716" y="147827"/>
                  </a:lnTo>
                  <a:lnTo>
                    <a:pt x="1156716" y="443484"/>
                  </a:lnTo>
                  <a:lnTo>
                    <a:pt x="295656" y="443484"/>
                  </a:lnTo>
                  <a:lnTo>
                    <a:pt x="295656" y="591312"/>
                  </a:lnTo>
                  <a:lnTo>
                    <a:pt x="0" y="295655"/>
                  </a:lnTo>
                  <a:close/>
                </a:path>
              </a:pathLst>
            </a:custGeom>
            <a:noFill/>
            <a:ln cap="flat" cmpd="sng" w="25900">
              <a:solidFill>
                <a:srgbClr val="A1A1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4" name="Google Shape;184;p13"/>
          <p:cNvSpPr txBox="1"/>
          <p:nvPr/>
        </p:nvSpPr>
        <p:spPr>
          <a:xfrm>
            <a:off x="2947161" y="839215"/>
            <a:ext cx="71755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61 tahun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5" name="Google Shape;185;p13"/>
          <p:cNvGrpSpPr/>
          <p:nvPr/>
        </p:nvGrpSpPr>
        <p:grpSpPr>
          <a:xfrm>
            <a:off x="2583942" y="1604009"/>
            <a:ext cx="1226820" cy="591820"/>
            <a:chOff x="2583942" y="1604009"/>
            <a:chExt cx="1226820" cy="591820"/>
          </a:xfrm>
        </p:grpSpPr>
        <p:sp>
          <p:nvSpPr>
            <p:cNvPr id="186" name="Google Shape;186;p13"/>
            <p:cNvSpPr/>
            <p:nvPr/>
          </p:nvSpPr>
          <p:spPr>
            <a:xfrm>
              <a:off x="2583942" y="1604009"/>
              <a:ext cx="1226820" cy="591820"/>
            </a:xfrm>
            <a:custGeom>
              <a:rect b="b" l="l" r="r" t="t"/>
              <a:pathLst>
                <a:path extrusionOk="0" h="591819" w="1226820">
                  <a:moveTo>
                    <a:pt x="295656" y="0"/>
                  </a:moveTo>
                  <a:lnTo>
                    <a:pt x="0" y="295655"/>
                  </a:lnTo>
                  <a:lnTo>
                    <a:pt x="295656" y="591312"/>
                  </a:lnTo>
                  <a:lnTo>
                    <a:pt x="295656" y="443484"/>
                  </a:lnTo>
                  <a:lnTo>
                    <a:pt x="1226820" y="443484"/>
                  </a:lnTo>
                  <a:lnTo>
                    <a:pt x="1226820" y="147827"/>
                  </a:lnTo>
                  <a:lnTo>
                    <a:pt x="295656" y="147827"/>
                  </a:lnTo>
                  <a:lnTo>
                    <a:pt x="295656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3"/>
            <p:cNvSpPr/>
            <p:nvPr/>
          </p:nvSpPr>
          <p:spPr>
            <a:xfrm>
              <a:off x="2583942" y="1604009"/>
              <a:ext cx="1226820" cy="591820"/>
            </a:xfrm>
            <a:custGeom>
              <a:rect b="b" l="l" r="r" t="t"/>
              <a:pathLst>
                <a:path extrusionOk="0" h="591819" w="1226820">
                  <a:moveTo>
                    <a:pt x="0" y="295655"/>
                  </a:moveTo>
                  <a:lnTo>
                    <a:pt x="295656" y="0"/>
                  </a:lnTo>
                  <a:lnTo>
                    <a:pt x="295656" y="147827"/>
                  </a:lnTo>
                  <a:lnTo>
                    <a:pt x="1226820" y="147827"/>
                  </a:lnTo>
                  <a:lnTo>
                    <a:pt x="1226820" y="443484"/>
                  </a:lnTo>
                  <a:lnTo>
                    <a:pt x="295656" y="443484"/>
                  </a:lnTo>
                  <a:lnTo>
                    <a:pt x="295656" y="591312"/>
                  </a:lnTo>
                  <a:lnTo>
                    <a:pt x="0" y="295655"/>
                  </a:lnTo>
                  <a:close/>
                </a:path>
              </a:pathLst>
            </a:custGeom>
            <a:noFill/>
            <a:ln cap="flat" cmpd="sng" w="25900">
              <a:solidFill>
                <a:srgbClr val="A1A1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8" name="Google Shape;188;p13"/>
          <p:cNvSpPr txBox="1"/>
          <p:nvPr/>
        </p:nvSpPr>
        <p:spPr>
          <a:xfrm>
            <a:off x="2927730" y="1774063"/>
            <a:ext cx="68834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Kode IM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3"/>
          <p:cNvSpPr txBox="1"/>
          <p:nvPr>
            <p:ph idx="12" type="sldNum"/>
          </p:nvPr>
        </p:nvSpPr>
        <p:spPr>
          <a:xfrm>
            <a:off x="11606276" y="6375713"/>
            <a:ext cx="234315" cy="196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"/>
          <p:cNvSpPr/>
          <p:nvPr/>
        </p:nvSpPr>
        <p:spPr>
          <a:xfrm>
            <a:off x="899160" y="281940"/>
            <a:ext cx="8418830" cy="411480"/>
          </a:xfrm>
          <a:custGeom>
            <a:rect b="b" l="l" r="r" t="t"/>
            <a:pathLst>
              <a:path extrusionOk="0" h="411480" w="8418830">
                <a:moveTo>
                  <a:pt x="8418576" y="0"/>
                </a:moveTo>
                <a:lnTo>
                  <a:pt x="0" y="0"/>
                </a:lnTo>
                <a:lnTo>
                  <a:pt x="0" y="411479"/>
                </a:lnTo>
                <a:lnTo>
                  <a:pt x="8418576" y="411479"/>
                </a:lnTo>
                <a:lnTo>
                  <a:pt x="8418576" y="0"/>
                </a:lnTo>
                <a:close/>
              </a:path>
            </a:pathLst>
          </a:custGeom>
          <a:solidFill>
            <a:srgbClr val="00AF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4"/>
          <p:cNvSpPr txBox="1"/>
          <p:nvPr>
            <p:ph type="title"/>
          </p:nvPr>
        </p:nvSpPr>
        <p:spPr>
          <a:xfrm>
            <a:off x="978204" y="261365"/>
            <a:ext cx="3669996" cy="38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Jawaban Soal No. 4 (2)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4"/>
          <p:cNvSpPr txBox="1"/>
          <p:nvPr/>
        </p:nvSpPr>
        <p:spPr>
          <a:xfrm>
            <a:off x="7719821" y="895350"/>
            <a:ext cx="4399915" cy="4575612"/>
          </a:xfrm>
          <a:prstGeom prst="rect">
            <a:avLst/>
          </a:prstGeom>
          <a:noFill/>
          <a:ln cap="flat" cmpd="sng" w="259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908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AKAR PERMASALAHAN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51625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Diagnosa utama tidak berkaitan/</a:t>
            </a:r>
            <a:r>
              <a:rPr b="0" i="1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unrelated </a:t>
            </a:r>
            <a:r>
              <a:rPr b="0" i="0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dengan Umur Pasien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5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PENYELESAIAN	MASALAH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535" lvl="0" marL="434975" marR="17335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GB" sz="1800" u="none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Atau konfirmasi ke DPJP, terkait dengan diagnosis Kode H26.0 sd H26.9 support meski umur pasien kurang dari 30 Tahun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535" lvl="0" marL="434975" marR="616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GB" sz="1800" u="none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Tambahkan Lateralisasi Kode IM (HL00, Right Eye)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4"/>
          <p:cNvSpPr txBox="1"/>
          <p:nvPr/>
        </p:nvSpPr>
        <p:spPr>
          <a:xfrm>
            <a:off x="2947161" y="839215"/>
            <a:ext cx="71755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61 tahun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4"/>
          <p:cNvSpPr txBox="1"/>
          <p:nvPr/>
        </p:nvSpPr>
        <p:spPr>
          <a:xfrm>
            <a:off x="2927730" y="1774063"/>
            <a:ext cx="68834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Kode IM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4"/>
          <p:cNvSpPr txBox="1"/>
          <p:nvPr>
            <p:ph idx="12" type="sldNum"/>
          </p:nvPr>
        </p:nvSpPr>
        <p:spPr>
          <a:xfrm>
            <a:off x="11606276" y="6375713"/>
            <a:ext cx="234315" cy="196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00" name="Google Shape;2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26614"/>
            <a:ext cx="7620000" cy="540477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4"/>
          <p:cNvSpPr/>
          <p:nvPr/>
        </p:nvSpPr>
        <p:spPr>
          <a:xfrm>
            <a:off x="457200" y="1371600"/>
            <a:ext cx="3352800" cy="762000"/>
          </a:xfrm>
          <a:prstGeom prst="rect">
            <a:avLst/>
          </a:prstGeom>
          <a:noFill/>
          <a:ln cap="flat" cmpd="sng" w="41275">
            <a:solidFill>
              <a:srgbClr val="FF0000">
                <a:alpha val="93333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oogle Shape;206;p15"/>
          <p:cNvGrpSpPr/>
          <p:nvPr/>
        </p:nvGrpSpPr>
        <p:grpSpPr>
          <a:xfrm>
            <a:off x="0" y="722376"/>
            <a:ext cx="7578852" cy="5564124"/>
            <a:chOff x="0" y="722376"/>
            <a:chExt cx="7578852" cy="5564124"/>
          </a:xfrm>
        </p:grpSpPr>
        <p:pic>
          <p:nvPicPr>
            <p:cNvPr id="207" name="Google Shape;207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722376"/>
              <a:ext cx="7578852" cy="55641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" name="Google Shape;208;p15"/>
            <p:cNvSpPr/>
            <p:nvPr/>
          </p:nvSpPr>
          <p:spPr>
            <a:xfrm>
              <a:off x="4775453" y="1383030"/>
              <a:ext cx="1066800" cy="588645"/>
            </a:xfrm>
            <a:custGeom>
              <a:rect b="b" l="l" r="r" t="t"/>
              <a:pathLst>
                <a:path extrusionOk="0" h="588644" w="1066800">
                  <a:moveTo>
                    <a:pt x="294132" y="0"/>
                  </a:moveTo>
                  <a:lnTo>
                    <a:pt x="0" y="294132"/>
                  </a:lnTo>
                  <a:lnTo>
                    <a:pt x="294132" y="588264"/>
                  </a:lnTo>
                  <a:lnTo>
                    <a:pt x="294132" y="441198"/>
                  </a:lnTo>
                  <a:lnTo>
                    <a:pt x="1066800" y="441198"/>
                  </a:lnTo>
                  <a:lnTo>
                    <a:pt x="1066800" y="147066"/>
                  </a:lnTo>
                  <a:lnTo>
                    <a:pt x="294132" y="147066"/>
                  </a:lnTo>
                  <a:lnTo>
                    <a:pt x="294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5"/>
            <p:cNvSpPr/>
            <p:nvPr/>
          </p:nvSpPr>
          <p:spPr>
            <a:xfrm>
              <a:off x="4775453" y="1383030"/>
              <a:ext cx="1066800" cy="588645"/>
            </a:xfrm>
            <a:custGeom>
              <a:rect b="b" l="l" r="r" t="t"/>
              <a:pathLst>
                <a:path extrusionOk="0" h="588644" w="1066800">
                  <a:moveTo>
                    <a:pt x="0" y="294132"/>
                  </a:moveTo>
                  <a:lnTo>
                    <a:pt x="294132" y="0"/>
                  </a:lnTo>
                  <a:lnTo>
                    <a:pt x="294132" y="147066"/>
                  </a:lnTo>
                  <a:lnTo>
                    <a:pt x="1066800" y="147066"/>
                  </a:lnTo>
                  <a:lnTo>
                    <a:pt x="1066800" y="441198"/>
                  </a:lnTo>
                  <a:lnTo>
                    <a:pt x="294132" y="441198"/>
                  </a:lnTo>
                  <a:lnTo>
                    <a:pt x="294132" y="588264"/>
                  </a:lnTo>
                  <a:lnTo>
                    <a:pt x="0" y="294132"/>
                  </a:lnTo>
                  <a:close/>
                </a:path>
              </a:pathLst>
            </a:custGeom>
            <a:noFill/>
            <a:ln cap="flat" cmpd="sng" w="25900">
              <a:solidFill>
                <a:srgbClr val="A1A1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5"/>
            <p:cNvSpPr/>
            <p:nvPr/>
          </p:nvSpPr>
          <p:spPr>
            <a:xfrm>
              <a:off x="5063616" y="1614297"/>
              <a:ext cx="396240" cy="130175"/>
            </a:xfrm>
            <a:custGeom>
              <a:rect b="b" l="l" r="r" t="t"/>
              <a:pathLst>
                <a:path extrusionOk="0" h="130175" w="396239">
                  <a:moveTo>
                    <a:pt x="255650" y="33019"/>
                  </a:moveTo>
                  <a:lnTo>
                    <a:pt x="242443" y="33019"/>
                  </a:lnTo>
                  <a:lnTo>
                    <a:pt x="235585" y="35051"/>
                  </a:lnTo>
                  <a:lnTo>
                    <a:pt x="212089" y="68294"/>
                  </a:lnTo>
                  <a:lnTo>
                    <a:pt x="210947" y="81533"/>
                  </a:lnTo>
                  <a:lnTo>
                    <a:pt x="211258" y="88390"/>
                  </a:lnTo>
                  <a:lnTo>
                    <a:pt x="230378" y="123570"/>
                  </a:lnTo>
                  <a:lnTo>
                    <a:pt x="243332" y="129666"/>
                  </a:lnTo>
                  <a:lnTo>
                    <a:pt x="250698" y="129666"/>
                  </a:lnTo>
                  <a:lnTo>
                    <a:pt x="258746" y="128809"/>
                  </a:lnTo>
                  <a:lnTo>
                    <a:pt x="265747" y="126237"/>
                  </a:lnTo>
                  <a:lnTo>
                    <a:pt x="271700" y="121951"/>
                  </a:lnTo>
                  <a:lnTo>
                    <a:pt x="275879" y="116839"/>
                  </a:lnTo>
                  <a:lnTo>
                    <a:pt x="245363" y="116839"/>
                  </a:lnTo>
                  <a:lnTo>
                    <a:pt x="239775" y="114045"/>
                  </a:lnTo>
                  <a:lnTo>
                    <a:pt x="239629" y="114045"/>
                  </a:lnTo>
                  <a:lnTo>
                    <a:pt x="234569" y="108076"/>
                  </a:lnTo>
                  <a:lnTo>
                    <a:pt x="227075" y="81533"/>
                  </a:lnTo>
                  <a:lnTo>
                    <a:pt x="227415" y="74747"/>
                  </a:lnTo>
                  <a:lnTo>
                    <a:pt x="227506" y="72933"/>
                  </a:lnTo>
                  <a:lnTo>
                    <a:pt x="244602" y="46100"/>
                  </a:lnTo>
                  <a:lnTo>
                    <a:pt x="291084" y="46100"/>
                  </a:lnTo>
                  <a:lnTo>
                    <a:pt x="291084" y="45847"/>
                  </a:lnTo>
                  <a:lnTo>
                    <a:pt x="275590" y="45847"/>
                  </a:lnTo>
                  <a:lnTo>
                    <a:pt x="272796" y="42037"/>
                  </a:lnTo>
                  <a:lnTo>
                    <a:pt x="269388" y="39115"/>
                  </a:lnTo>
                  <a:lnTo>
                    <a:pt x="264922" y="36575"/>
                  </a:lnTo>
                  <a:lnTo>
                    <a:pt x="260604" y="34289"/>
                  </a:lnTo>
                  <a:lnTo>
                    <a:pt x="255650" y="33019"/>
                  </a:lnTo>
                  <a:close/>
                </a:path>
                <a:path extrusionOk="0" h="130175" w="396239">
                  <a:moveTo>
                    <a:pt x="291084" y="115950"/>
                  </a:moveTo>
                  <a:lnTo>
                    <a:pt x="276606" y="115950"/>
                  </a:lnTo>
                  <a:lnTo>
                    <a:pt x="276606" y="127635"/>
                  </a:lnTo>
                  <a:lnTo>
                    <a:pt x="291084" y="127635"/>
                  </a:lnTo>
                  <a:lnTo>
                    <a:pt x="291084" y="115950"/>
                  </a:lnTo>
                  <a:close/>
                </a:path>
                <a:path extrusionOk="0" h="130175" w="396239">
                  <a:moveTo>
                    <a:pt x="291084" y="46100"/>
                  </a:moveTo>
                  <a:lnTo>
                    <a:pt x="258699" y="46100"/>
                  </a:lnTo>
                  <a:lnTo>
                    <a:pt x="264668" y="49022"/>
                  </a:lnTo>
                  <a:lnTo>
                    <a:pt x="269494" y="54990"/>
                  </a:lnTo>
                  <a:lnTo>
                    <a:pt x="276860" y="82803"/>
                  </a:lnTo>
                  <a:lnTo>
                    <a:pt x="276545" y="88390"/>
                  </a:lnTo>
                  <a:lnTo>
                    <a:pt x="276464" y="89842"/>
                  </a:lnTo>
                  <a:lnTo>
                    <a:pt x="276407" y="90848"/>
                  </a:lnTo>
                  <a:lnTo>
                    <a:pt x="259080" y="116839"/>
                  </a:lnTo>
                  <a:lnTo>
                    <a:pt x="275879" y="116839"/>
                  </a:lnTo>
                  <a:lnTo>
                    <a:pt x="276606" y="115950"/>
                  </a:lnTo>
                  <a:lnTo>
                    <a:pt x="291084" y="115950"/>
                  </a:lnTo>
                  <a:lnTo>
                    <a:pt x="291084" y="46100"/>
                  </a:lnTo>
                  <a:close/>
                </a:path>
                <a:path extrusionOk="0" h="130175" w="396239">
                  <a:moveTo>
                    <a:pt x="291084" y="0"/>
                  </a:moveTo>
                  <a:lnTo>
                    <a:pt x="275590" y="0"/>
                  </a:lnTo>
                  <a:lnTo>
                    <a:pt x="275590" y="45847"/>
                  </a:lnTo>
                  <a:lnTo>
                    <a:pt x="291084" y="45847"/>
                  </a:lnTo>
                  <a:lnTo>
                    <a:pt x="291084" y="0"/>
                  </a:lnTo>
                  <a:close/>
                </a:path>
                <a:path extrusionOk="0" h="130175" w="396239">
                  <a:moveTo>
                    <a:pt x="155067" y="33019"/>
                  </a:moveTo>
                  <a:lnTo>
                    <a:pt x="119743" y="50331"/>
                  </a:lnTo>
                  <a:lnTo>
                    <a:pt x="111853" y="80137"/>
                  </a:lnTo>
                  <a:lnTo>
                    <a:pt x="111760" y="81406"/>
                  </a:lnTo>
                  <a:lnTo>
                    <a:pt x="130153" y="122701"/>
                  </a:lnTo>
                  <a:lnTo>
                    <a:pt x="155067" y="129666"/>
                  </a:lnTo>
                  <a:lnTo>
                    <a:pt x="163195" y="129666"/>
                  </a:lnTo>
                  <a:lnTo>
                    <a:pt x="170561" y="127888"/>
                  </a:lnTo>
                  <a:lnTo>
                    <a:pt x="184277" y="120268"/>
                  </a:lnTo>
                  <a:lnTo>
                    <a:pt x="187542" y="116839"/>
                  </a:lnTo>
                  <a:lnTo>
                    <a:pt x="147193" y="116839"/>
                  </a:lnTo>
                  <a:lnTo>
                    <a:pt x="140716" y="113918"/>
                  </a:lnTo>
                  <a:lnTo>
                    <a:pt x="127762" y="81406"/>
                  </a:lnTo>
                  <a:lnTo>
                    <a:pt x="128258" y="73098"/>
                  </a:lnTo>
                  <a:lnTo>
                    <a:pt x="147193" y="46100"/>
                  </a:lnTo>
                  <a:lnTo>
                    <a:pt x="186579" y="46100"/>
                  </a:lnTo>
                  <a:lnTo>
                    <a:pt x="186182" y="45592"/>
                  </a:lnTo>
                  <a:lnTo>
                    <a:pt x="179730" y="40092"/>
                  </a:lnTo>
                  <a:lnTo>
                    <a:pt x="172386" y="36163"/>
                  </a:lnTo>
                  <a:lnTo>
                    <a:pt x="164161" y="33805"/>
                  </a:lnTo>
                  <a:lnTo>
                    <a:pt x="155067" y="33019"/>
                  </a:lnTo>
                  <a:close/>
                </a:path>
                <a:path extrusionOk="0" h="130175" w="396239">
                  <a:moveTo>
                    <a:pt x="186579" y="46100"/>
                  </a:moveTo>
                  <a:lnTo>
                    <a:pt x="162813" y="46100"/>
                  </a:lnTo>
                  <a:lnTo>
                    <a:pt x="169291" y="49022"/>
                  </a:lnTo>
                  <a:lnTo>
                    <a:pt x="174498" y="54863"/>
                  </a:lnTo>
                  <a:lnTo>
                    <a:pt x="182216" y="81406"/>
                  </a:lnTo>
                  <a:lnTo>
                    <a:pt x="181813" y="88540"/>
                  </a:lnTo>
                  <a:lnTo>
                    <a:pt x="162813" y="116839"/>
                  </a:lnTo>
                  <a:lnTo>
                    <a:pt x="187542" y="116839"/>
                  </a:lnTo>
                  <a:lnTo>
                    <a:pt x="197883" y="89715"/>
                  </a:lnTo>
                  <a:lnTo>
                    <a:pt x="197929" y="89376"/>
                  </a:lnTo>
                  <a:lnTo>
                    <a:pt x="198040" y="88540"/>
                  </a:lnTo>
                  <a:lnTo>
                    <a:pt x="198323" y="81406"/>
                  </a:lnTo>
                  <a:lnTo>
                    <a:pt x="198374" y="80137"/>
                  </a:lnTo>
                  <a:lnTo>
                    <a:pt x="197612" y="69685"/>
                  </a:lnTo>
                  <a:lnTo>
                    <a:pt x="195326" y="60436"/>
                  </a:lnTo>
                  <a:lnTo>
                    <a:pt x="191516" y="52401"/>
                  </a:lnTo>
                  <a:lnTo>
                    <a:pt x="186579" y="46100"/>
                  </a:lnTo>
                  <a:close/>
                </a:path>
                <a:path extrusionOk="0" h="130175" w="396239">
                  <a:moveTo>
                    <a:pt x="353568" y="33019"/>
                  </a:moveTo>
                  <a:lnTo>
                    <a:pt x="317519" y="52651"/>
                  </a:lnTo>
                  <a:lnTo>
                    <a:pt x="310449" y="81279"/>
                  </a:lnTo>
                  <a:lnTo>
                    <a:pt x="310388" y="82168"/>
                  </a:lnTo>
                  <a:lnTo>
                    <a:pt x="328775" y="122701"/>
                  </a:lnTo>
                  <a:lnTo>
                    <a:pt x="354457" y="129666"/>
                  </a:lnTo>
                  <a:lnTo>
                    <a:pt x="362176" y="129188"/>
                  </a:lnTo>
                  <a:lnTo>
                    <a:pt x="386329" y="116839"/>
                  </a:lnTo>
                  <a:lnTo>
                    <a:pt x="346837" y="116839"/>
                  </a:lnTo>
                  <a:lnTo>
                    <a:pt x="340360" y="114173"/>
                  </a:lnTo>
                  <a:lnTo>
                    <a:pt x="335280" y="108712"/>
                  </a:lnTo>
                  <a:lnTo>
                    <a:pt x="330073" y="103377"/>
                  </a:lnTo>
                  <a:lnTo>
                    <a:pt x="327152" y="95503"/>
                  </a:lnTo>
                  <a:lnTo>
                    <a:pt x="326644" y="85470"/>
                  </a:lnTo>
                  <a:lnTo>
                    <a:pt x="395605" y="85470"/>
                  </a:lnTo>
                  <a:lnTo>
                    <a:pt x="395732" y="81279"/>
                  </a:lnTo>
                  <a:lnTo>
                    <a:pt x="395136" y="72516"/>
                  </a:lnTo>
                  <a:lnTo>
                    <a:pt x="327533" y="72516"/>
                  </a:lnTo>
                  <a:lnTo>
                    <a:pt x="328024" y="64769"/>
                  </a:lnTo>
                  <a:lnTo>
                    <a:pt x="328041" y="64515"/>
                  </a:lnTo>
                  <a:lnTo>
                    <a:pt x="330708" y="58038"/>
                  </a:lnTo>
                  <a:lnTo>
                    <a:pt x="335661" y="53212"/>
                  </a:lnTo>
                  <a:lnTo>
                    <a:pt x="340487" y="48387"/>
                  </a:lnTo>
                  <a:lnTo>
                    <a:pt x="346583" y="45974"/>
                  </a:lnTo>
                  <a:lnTo>
                    <a:pt x="384110" y="45974"/>
                  </a:lnTo>
                  <a:lnTo>
                    <a:pt x="383921" y="45719"/>
                  </a:lnTo>
                  <a:lnTo>
                    <a:pt x="377729" y="40306"/>
                  </a:lnTo>
                  <a:lnTo>
                    <a:pt x="370516" y="36258"/>
                  </a:lnTo>
                  <a:lnTo>
                    <a:pt x="362467" y="33829"/>
                  </a:lnTo>
                  <a:lnTo>
                    <a:pt x="353568" y="33019"/>
                  </a:lnTo>
                  <a:close/>
                </a:path>
                <a:path extrusionOk="0" h="130175" w="396239">
                  <a:moveTo>
                    <a:pt x="378968" y="97916"/>
                  </a:moveTo>
                  <a:lnTo>
                    <a:pt x="376555" y="104520"/>
                  </a:lnTo>
                  <a:lnTo>
                    <a:pt x="373380" y="109347"/>
                  </a:lnTo>
                  <a:lnTo>
                    <a:pt x="369316" y="112267"/>
                  </a:lnTo>
                  <a:lnTo>
                    <a:pt x="365252" y="115315"/>
                  </a:lnTo>
                  <a:lnTo>
                    <a:pt x="360299" y="116839"/>
                  </a:lnTo>
                  <a:lnTo>
                    <a:pt x="386329" y="116839"/>
                  </a:lnTo>
                  <a:lnTo>
                    <a:pt x="389667" y="112490"/>
                  </a:lnTo>
                  <a:lnTo>
                    <a:pt x="392787" y="106560"/>
                  </a:lnTo>
                  <a:lnTo>
                    <a:pt x="395097" y="99822"/>
                  </a:lnTo>
                  <a:lnTo>
                    <a:pt x="378968" y="97916"/>
                  </a:lnTo>
                  <a:close/>
                </a:path>
                <a:path extrusionOk="0" h="130175" w="396239">
                  <a:moveTo>
                    <a:pt x="384110" y="45974"/>
                  </a:moveTo>
                  <a:lnTo>
                    <a:pt x="361696" y="45974"/>
                  </a:lnTo>
                  <a:lnTo>
                    <a:pt x="368173" y="49022"/>
                  </a:lnTo>
                  <a:lnTo>
                    <a:pt x="373253" y="54990"/>
                  </a:lnTo>
                  <a:lnTo>
                    <a:pt x="376428" y="58927"/>
                  </a:lnTo>
                  <a:lnTo>
                    <a:pt x="378371" y="64515"/>
                  </a:lnTo>
                  <a:lnTo>
                    <a:pt x="378460" y="64769"/>
                  </a:lnTo>
                  <a:lnTo>
                    <a:pt x="378923" y="70419"/>
                  </a:lnTo>
                  <a:lnTo>
                    <a:pt x="378986" y="71191"/>
                  </a:lnTo>
                  <a:lnTo>
                    <a:pt x="379095" y="72516"/>
                  </a:lnTo>
                  <a:lnTo>
                    <a:pt x="395136" y="72516"/>
                  </a:lnTo>
                  <a:lnTo>
                    <a:pt x="395046" y="71191"/>
                  </a:lnTo>
                  <a:lnTo>
                    <a:pt x="394993" y="70419"/>
                  </a:lnTo>
                  <a:lnTo>
                    <a:pt x="392779" y="60880"/>
                  </a:lnTo>
                  <a:lnTo>
                    <a:pt x="389088" y="52651"/>
                  </a:lnTo>
                  <a:lnTo>
                    <a:pt x="384110" y="45974"/>
                  </a:lnTo>
                  <a:close/>
                </a:path>
                <a:path extrusionOk="0" h="130175" w="396239">
                  <a:moveTo>
                    <a:pt x="16891" y="0"/>
                  </a:moveTo>
                  <a:lnTo>
                    <a:pt x="0" y="0"/>
                  </a:lnTo>
                  <a:lnTo>
                    <a:pt x="0" y="127635"/>
                  </a:lnTo>
                  <a:lnTo>
                    <a:pt x="16891" y="127635"/>
                  </a:lnTo>
                  <a:lnTo>
                    <a:pt x="16891" y="83438"/>
                  </a:lnTo>
                  <a:lnTo>
                    <a:pt x="37460" y="63245"/>
                  </a:lnTo>
                  <a:lnTo>
                    <a:pt x="16891" y="63245"/>
                  </a:lnTo>
                  <a:lnTo>
                    <a:pt x="16891" y="0"/>
                  </a:lnTo>
                  <a:close/>
                </a:path>
                <a:path extrusionOk="0" h="130175" w="396239">
                  <a:moveTo>
                    <a:pt x="57973" y="62991"/>
                  </a:moveTo>
                  <a:lnTo>
                    <a:pt x="37719" y="62991"/>
                  </a:lnTo>
                  <a:lnTo>
                    <a:pt x="83185" y="127635"/>
                  </a:lnTo>
                  <a:lnTo>
                    <a:pt x="105537" y="127635"/>
                  </a:lnTo>
                  <a:lnTo>
                    <a:pt x="57973" y="62991"/>
                  </a:lnTo>
                  <a:close/>
                </a:path>
                <a:path extrusionOk="0" h="130175" w="396239">
                  <a:moveTo>
                    <a:pt x="103124" y="0"/>
                  </a:moveTo>
                  <a:lnTo>
                    <a:pt x="80263" y="0"/>
                  </a:lnTo>
                  <a:lnTo>
                    <a:pt x="16891" y="63245"/>
                  </a:lnTo>
                  <a:lnTo>
                    <a:pt x="37460" y="63245"/>
                  </a:lnTo>
                  <a:lnTo>
                    <a:pt x="37719" y="62991"/>
                  </a:lnTo>
                  <a:lnTo>
                    <a:pt x="57973" y="62991"/>
                  </a:lnTo>
                  <a:lnTo>
                    <a:pt x="49657" y="51688"/>
                  </a:lnTo>
                  <a:lnTo>
                    <a:pt x="1031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1" name="Google Shape;211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059045" y="1609725"/>
              <a:ext cx="404876" cy="1388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" name="Google Shape;212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525896" y="1609725"/>
              <a:ext cx="177800" cy="1367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3" name="Google Shape;213;p15"/>
          <p:cNvSpPr txBox="1"/>
          <p:nvPr>
            <p:ph type="title"/>
          </p:nvPr>
        </p:nvSpPr>
        <p:spPr>
          <a:xfrm>
            <a:off x="899160" y="281940"/>
            <a:ext cx="8418830" cy="411480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1440" rtl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Jawaban Soal No. 5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5"/>
          <p:cNvSpPr txBox="1"/>
          <p:nvPr>
            <p:ph idx="12" type="sldNum"/>
          </p:nvPr>
        </p:nvSpPr>
        <p:spPr>
          <a:xfrm>
            <a:off x="11606276" y="6375713"/>
            <a:ext cx="234315" cy="196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5" name="Google Shape;215;p15"/>
          <p:cNvSpPr txBox="1"/>
          <p:nvPr/>
        </p:nvSpPr>
        <p:spPr>
          <a:xfrm>
            <a:off x="7719821" y="895350"/>
            <a:ext cx="4399915" cy="5294630"/>
          </a:xfrm>
          <a:prstGeom prst="rect">
            <a:avLst/>
          </a:prstGeom>
          <a:noFill/>
          <a:ln cap="flat" cmpd="sng" w="259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2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HASIL GROUPING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60579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MDC </a:t>
            </a:r>
            <a:r>
              <a:rPr b="0" i="0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: Ungroupable or Unrelated </a:t>
            </a:r>
            <a:r>
              <a:rPr b="0" i="0" lang="en-GB" sz="2000" u="none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DRG </a:t>
            </a:r>
            <a:r>
              <a:rPr b="0" i="0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: Error: Respiratory Drug Resistance TB w/o Drug Types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oogle Shape;221;p16"/>
          <p:cNvGrpSpPr/>
          <p:nvPr/>
        </p:nvGrpSpPr>
        <p:grpSpPr>
          <a:xfrm>
            <a:off x="0" y="740664"/>
            <a:ext cx="7719059" cy="5431536"/>
            <a:chOff x="0" y="740664"/>
            <a:chExt cx="7719059" cy="5431536"/>
          </a:xfrm>
        </p:grpSpPr>
        <p:pic>
          <p:nvPicPr>
            <p:cNvPr id="222" name="Google Shape;222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740664"/>
              <a:ext cx="7719059" cy="54315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" name="Google Shape;223;p16"/>
            <p:cNvSpPr/>
            <p:nvPr/>
          </p:nvSpPr>
          <p:spPr>
            <a:xfrm>
              <a:off x="747522" y="2123693"/>
              <a:ext cx="3447415" cy="431800"/>
            </a:xfrm>
            <a:custGeom>
              <a:rect b="b" l="l" r="r" t="t"/>
              <a:pathLst>
                <a:path extrusionOk="0" h="431800" w="3447415">
                  <a:moveTo>
                    <a:pt x="0" y="431291"/>
                  </a:moveTo>
                  <a:lnTo>
                    <a:pt x="3447288" y="431291"/>
                  </a:lnTo>
                  <a:lnTo>
                    <a:pt x="3447288" y="0"/>
                  </a:lnTo>
                  <a:lnTo>
                    <a:pt x="0" y="0"/>
                  </a:lnTo>
                  <a:lnTo>
                    <a:pt x="0" y="431291"/>
                  </a:lnTo>
                  <a:close/>
                </a:path>
              </a:pathLst>
            </a:custGeom>
            <a:noFill/>
            <a:ln cap="flat" cmpd="sng" w="25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4" name="Google Shape;224;p16"/>
          <p:cNvSpPr txBox="1"/>
          <p:nvPr>
            <p:ph type="title"/>
          </p:nvPr>
        </p:nvSpPr>
        <p:spPr>
          <a:xfrm>
            <a:off x="899160" y="281940"/>
            <a:ext cx="8418830" cy="411480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1440" rtl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Jawaban Soal No. 5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6"/>
          <p:cNvSpPr txBox="1"/>
          <p:nvPr>
            <p:ph idx="12" type="sldNum"/>
          </p:nvPr>
        </p:nvSpPr>
        <p:spPr>
          <a:xfrm>
            <a:off x="11606276" y="6375713"/>
            <a:ext cx="234315" cy="196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6" name="Google Shape;226;p16"/>
          <p:cNvSpPr txBox="1"/>
          <p:nvPr/>
        </p:nvSpPr>
        <p:spPr>
          <a:xfrm>
            <a:off x="7719821" y="895350"/>
            <a:ext cx="4399915" cy="5294630"/>
          </a:xfrm>
          <a:prstGeom prst="rect">
            <a:avLst/>
          </a:prstGeom>
          <a:noFill/>
          <a:ln cap="flat" cmpd="sng" w="259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908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AKAR PERMASALAHAN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Diagnosis resisten, tanpa ada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Type/Jenis obat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5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PENYELESAIAN	MASALAH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0" rtl="0" algn="l">
              <a:lnSpc>
                <a:spcPct val="100000"/>
              </a:lnSpc>
              <a:spcBef>
                <a:spcPts val="217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	</a:t>
            </a:r>
            <a:r>
              <a:rPr b="0" i="0" lang="en-GB" sz="1800" u="none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Tambahkan Kode ICD prosedur IM,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349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Drug Type (resistensi), (U83.3)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87908"/>
            <a:ext cx="7600188" cy="5582412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7"/>
          <p:cNvSpPr txBox="1"/>
          <p:nvPr>
            <p:ph type="title"/>
          </p:nvPr>
        </p:nvSpPr>
        <p:spPr>
          <a:xfrm>
            <a:off x="899160" y="281940"/>
            <a:ext cx="8418830" cy="411480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1440" rtl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Jawaban Soal No. 6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7"/>
          <p:cNvSpPr txBox="1"/>
          <p:nvPr>
            <p:ph idx="12" type="sldNum"/>
          </p:nvPr>
        </p:nvSpPr>
        <p:spPr>
          <a:xfrm>
            <a:off x="11606276" y="6375713"/>
            <a:ext cx="234315" cy="196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4" name="Google Shape;234;p17"/>
          <p:cNvSpPr txBox="1"/>
          <p:nvPr/>
        </p:nvSpPr>
        <p:spPr>
          <a:xfrm>
            <a:off x="7719821" y="895350"/>
            <a:ext cx="4399915" cy="5294630"/>
          </a:xfrm>
          <a:prstGeom prst="rect">
            <a:avLst/>
          </a:prstGeom>
          <a:noFill/>
          <a:ln cap="flat" cmpd="sng" w="259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2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HASIL GROUPING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60579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MDC </a:t>
            </a:r>
            <a:r>
              <a:rPr b="0" i="0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: Ungroupable or Unrelated </a:t>
            </a:r>
            <a:r>
              <a:rPr b="0" i="0" lang="en-GB" sz="2000" u="none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DRG </a:t>
            </a:r>
            <a:r>
              <a:rPr b="0" i="0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: Error coding: PTCA w/o Number of Vessels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18"/>
          <p:cNvGrpSpPr/>
          <p:nvPr/>
        </p:nvGrpSpPr>
        <p:grpSpPr>
          <a:xfrm>
            <a:off x="0" y="784859"/>
            <a:ext cx="7639811" cy="5404104"/>
            <a:chOff x="0" y="784859"/>
            <a:chExt cx="7639811" cy="5404104"/>
          </a:xfrm>
        </p:grpSpPr>
        <p:pic>
          <p:nvPicPr>
            <p:cNvPr id="240" name="Google Shape;240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784859"/>
              <a:ext cx="7639811" cy="54041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18"/>
            <p:cNvSpPr/>
            <p:nvPr/>
          </p:nvSpPr>
          <p:spPr>
            <a:xfrm>
              <a:off x="653033" y="2711958"/>
              <a:ext cx="2007235" cy="463550"/>
            </a:xfrm>
            <a:custGeom>
              <a:rect b="b" l="l" r="r" t="t"/>
              <a:pathLst>
                <a:path extrusionOk="0" h="463550" w="2007235">
                  <a:moveTo>
                    <a:pt x="0" y="463296"/>
                  </a:moveTo>
                  <a:lnTo>
                    <a:pt x="2007107" y="463296"/>
                  </a:lnTo>
                  <a:lnTo>
                    <a:pt x="2007107" y="0"/>
                  </a:lnTo>
                  <a:lnTo>
                    <a:pt x="0" y="0"/>
                  </a:lnTo>
                  <a:lnTo>
                    <a:pt x="0" y="463296"/>
                  </a:lnTo>
                  <a:close/>
                </a:path>
              </a:pathLst>
            </a:custGeom>
            <a:noFill/>
            <a:ln cap="flat" cmpd="sng" w="25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2" name="Google Shape;242;p18"/>
          <p:cNvSpPr txBox="1"/>
          <p:nvPr>
            <p:ph type="title"/>
          </p:nvPr>
        </p:nvSpPr>
        <p:spPr>
          <a:xfrm>
            <a:off x="899160" y="281940"/>
            <a:ext cx="8418830" cy="411480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1440" rtl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Jawaban Soal No. 6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8"/>
          <p:cNvSpPr txBox="1"/>
          <p:nvPr>
            <p:ph idx="12" type="sldNum"/>
          </p:nvPr>
        </p:nvSpPr>
        <p:spPr>
          <a:xfrm>
            <a:off x="11606276" y="6375713"/>
            <a:ext cx="234315" cy="196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4" name="Google Shape;244;p18"/>
          <p:cNvSpPr txBox="1"/>
          <p:nvPr/>
        </p:nvSpPr>
        <p:spPr>
          <a:xfrm>
            <a:off x="7719821" y="895350"/>
            <a:ext cx="4399915" cy="5294630"/>
          </a:xfrm>
          <a:prstGeom prst="rect">
            <a:avLst/>
          </a:prstGeom>
          <a:noFill/>
          <a:ln cap="flat" cmpd="sng" w="259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908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AKAR PERMASALAHAN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10477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Diagnosa utama tidak berkaitan/</a:t>
            </a:r>
            <a:r>
              <a:rPr b="0" i="1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unrelated </a:t>
            </a:r>
            <a:r>
              <a:rPr b="0" i="0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dengan tindakan, karena PTCA tidak diikuti dengan minimal kode Tindakan jumlah pembuluh darah koroner utama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PENYELESAIAN	MASALAH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59563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Tambah kode 00.40 </a:t>
            </a:r>
            <a:r>
              <a:rPr b="0" i="0" lang="en-GB" sz="2000" u="none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GB" sz="2000" u="sng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Procedure on</a:t>
            </a:r>
            <a:r>
              <a:rPr b="0" i="0" lang="en-GB" sz="2000" u="none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2000" u="sng" cap="none" strike="noStrike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single vessel)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72355" y="3015957"/>
            <a:ext cx="3460997" cy="805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