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4"/>
    <p:sldMasterId id="214748367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Quattrocento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a1c2c419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a1c2c41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849cd6e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a849cd6e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92e6e6519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a92e6e6519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3" name="Google Shape;23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5" name="Google Shape;25;p3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6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4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7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86" name="Google Shape;86;p18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87" name="Google Shape;87;p18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89" name="Google Shape;89;p18"/>
          <p:cNvPicPr preferRelativeResize="0"/>
          <p:nvPr/>
        </p:nvPicPr>
        <p:blipFill rotWithShape="1">
          <a:blip r:embed="rId2">
            <a:alphaModFix/>
          </a:blip>
          <a:srcRect b="-414" l="0" r="49469" t="49904"/>
          <a:stretch/>
        </p:blipFill>
        <p:spPr>
          <a:xfrm rot="10800000">
            <a:off x="-1729" y="4507840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79549" y="2262267"/>
            <a:ext cx="2599188" cy="604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4" name="Google Shape;9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7" name="Google Shape;11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s.kemkes.go.id/gel3_soalmpi2" TargetMode="External"/><Relationship Id="rId4" Type="http://schemas.openxmlformats.org/officeDocument/2006/relationships/hyperlink" Target="https://s.id/ICD_BA_PelatihanTangerang" TargetMode="External"/><Relationship Id="rId5" Type="http://schemas.openxmlformats.org/officeDocument/2006/relationships/hyperlink" Target="http://s.kemkes.go.id/icd_ic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s.kemkes.go.id/mpi2_kel1a21" TargetMode="External"/><Relationship Id="rId4" Type="http://schemas.openxmlformats.org/officeDocument/2006/relationships/hyperlink" Target="http://s.kemkes.go.id/mpi2_kel2a21" TargetMode="External"/><Relationship Id="rId9" Type="http://schemas.openxmlformats.org/officeDocument/2006/relationships/hyperlink" Target="http://s.kemkes.go.id/jawabanmpi2gel2" TargetMode="External"/><Relationship Id="rId5" Type="http://schemas.openxmlformats.org/officeDocument/2006/relationships/hyperlink" Target="http://s.kemkes.go.id/mpi2_kel3a21" TargetMode="External"/><Relationship Id="rId6" Type="http://schemas.openxmlformats.org/officeDocument/2006/relationships/hyperlink" Target="http://s.kemkes.go.id/mpi2_kel4a21" TargetMode="External"/><Relationship Id="rId7" Type="http://schemas.openxmlformats.org/officeDocument/2006/relationships/hyperlink" Target="http://s.kemkes.go.id/mpi2_kel5a21" TargetMode="External"/><Relationship Id="rId8" Type="http://schemas.openxmlformats.org/officeDocument/2006/relationships/hyperlink" Target="http://s.kemkes.go.id/mpi2_kel6a2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1"/>
          <p:cNvSpPr txBox="1"/>
          <p:nvPr>
            <p:ph type="title"/>
          </p:nvPr>
        </p:nvSpPr>
        <p:spPr>
          <a:xfrm>
            <a:off x="583225" y="96515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n-GB" sz="2700">
                <a:solidFill>
                  <a:schemeClr val="dk1"/>
                </a:solidFill>
              </a:rPr>
              <a:t>Penugasan MPI 2</a:t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ct val="88888"/>
              <a:buFont typeface="Arial"/>
              <a:buNone/>
            </a:pPr>
            <a:r>
              <a:rPr b="0" lang="en-GB" sz="2700">
                <a:solidFill>
                  <a:schemeClr val="dk1"/>
                </a:solidFill>
              </a:rPr>
              <a:t>Kodifikasi Penyakit Dengan Masalah Kesehatan Lainnya Sesuai Dengan ICD 10 Tahun 2010 With </a:t>
            </a:r>
            <a:r>
              <a:rPr b="0" i="1" lang="en-GB" sz="2700">
                <a:solidFill>
                  <a:schemeClr val="dk1"/>
                </a:solidFill>
              </a:rPr>
              <a:t>Indonesian Modification</a:t>
            </a:r>
            <a:r>
              <a:rPr b="0" lang="en-GB" sz="2700">
                <a:solidFill>
                  <a:schemeClr val="dk1"/>
                </a:solidFill>
              </a:rPr>
              <a:t> dalam iDRG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38" name="Google Shape;138;p31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4" name="Google Shape;144;p32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800"/>
              <a:buNone/>
            </a:pPr>
            <a:r>
              <a:t/>
            </a:r>
            <a:endParaRPr/>
          </a:p>
        </p:txBody>
      </p:sp>
      <p:cxnSp>
        <p:nvCxnSpPr>
          <p:cNvPr id="145" name="Google Shape;145;p32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32"/>
          <p:cNvSpPr txBox="1"/>
          <p:nvPr>
            <p:ph type="title"/>
          </p:nvPr>
        </p:nvSpPr>
        <p:spPr>
          <a:xfrm>
            <a:off x="719583" y="4156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88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PANDUAN STUDI KASUS</a:t>
            </a:r>
            <a:endParaRPr sz="1710"/>
          </a:p>
        </p:txBody>
      </p:sp>
      <p:sp>
        <p:nvSpPr>
          <p:cNvPr id="147" name="Google Shape;147;p32"/>
          <p:cNvSpPr txBox="1"/>
          <p:nvPr/>
        </p:nvSpPr>
        <p:spPr>
          <a:xfrm>
            <a:off x="430150" y="659450"/>
            <a:ext cx="8424900" cy="43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Tujuan: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Menerapkan koding morbiditas sesuai aturan ICD-10 Tahun 2010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Menerapkan koding iDRG berdasarkan ICS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Langkah-langkah: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Peserta dibagi menjadi 6 kelompok, setiap kelompok terdiri dari 5 orang (5 menit).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Setiap kelompok memilih notulen dan penyaji (5 menit).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Setiap kelompok melakukan simulasi berdasarkan kasus dibawah ini (60 menit)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Setiap kelompok menyajikan hasil diskusinya dengan bahan tayang (90 menit).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Kelompok lain mengamati penyajian kelompok yang sedang presentasi dan memberikan masukan atau klarifikasi (90 menit)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Fasilitator merangkum kegiatan diskusi kelompok (15 menit).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Waktu: 6 JPLx 45 Menit = 270 menit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idx="1" type="body"/>
          </p:nvPr>
        </p:nvSpPr>
        <p:spPr>
          <a:xfrm>
            <a:off x="606308" y="1038578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rgbClr val="233A44"/>
                </a:solidFill>
                <a:latin typeface="Arial"/>
                <a:ea typeface="Arial"/>
                <a:cs typeface="Arial"/>
                <a:sym typeface="Arial"/>
              </a:rPr>
              <a:t>Langkah Pengerjaan Penugasan :</a:t>
            </a:r>
            <a:endParaRPr sz="2100">
              <a:solidFill>
                <a:srgbClr val="233A4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Telaah resume medis yang terdapat </a:t>
            </a:r>
            <a:r>
              <a:rPr i="1"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link </a:t>
            </a: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masing-masing kelompok, jawablah sesuai nomor soal pada </a:t>
            </a:r>
            <a:r>
              <a:rPr i="1"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slide</a:t>
            </a: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lembar jawaban</a:t>
            </a:r>
            <a:endParaRPr sz="21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Tentukan diagnosis dan kode ICD 10 pada resume medis sesuai nomor soal.</a:t>
            </a:r>
            <a:endParaRPr sz="21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2100"/>
              <a:buFont typeface="Roboto"/>
              <a:buAutoNum type="arabicPeriod"/>
            </a:pPr>
            <a:r>
              <a:rPr i="1"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Capture </a:t>
            </a: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langkah - langkah pencarian kode ICD 10 setiap kode diagnosis dan jawablah pada </a:t>
            </a:r>
            <a:r>
              <a:rPr i="1"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google slide</a:t>
            </a:r>
            <a:r>
              <a:rPr lang="en-GB" sz="2100">
                <a:solidFill>
                  <a:srgbClr val="233A44"/>
                </a:solidFill>
                <a:latin typeface="Roboto"/>
                <a:ea typeface="Roboto"/>
                <a:cs typeface="Roboto"/>
                <a:sym typeface="Roboto"/>
              </a:rPr>
              <a:t> yang telah disediakan masing-masing kelompok</a:t>
            </a:r>
            <a:endParaRPr sz="2100">
              <a:solidFill>
                <a:srgbClr val="233A44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400"/>
              <a:buNone/>
            </a:pPr>
            <a:r>
              <a:t/>
            </a:r>
            <a:endParaRPr sz="2100"/>
          </a:p>
        </p:txBody>
      </p:sp>
      <p:sp>
        <p:nvSpPr>
          <p:cNvPr id="153" name="Google Shape;153;p33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54" name="Google Shape;154;p33"/>
          <p:cNvSpPr txBox="1"/>
          <p:nvPr>
            <p:ph type="title"/>
          </p:nvPr>
        </p:nvSpPr>
        <p:spPr>
          <a:xfrm>
            <a:off x="721958" y="55194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-GB" sz="2700">
                <a:solidFill>
                  <a:schemeClr val="dk1"/>
                </a:solidFill>
                <a:highlight>
                  <a:srgbClr val="00B9AD"/>
                </a:highlight>
                <a:latin typeface="Roboto"/>
                <a:ea typeface="Roboto"/>
                <a:cs typeface="Roboto"/>
                <a:sym typeface="Roboto"/>
              </a:rPr>
              <a:t>TERDIRI DARI 10 KASUS RESUME MEDIS</a:t>
            </a:r>
            <a:endParaRPr sz="2610">
              <a:solidFill>
                <a:schemeClr val="dk1"/>
              </a:solidFill>
              <a:highlight>
                <a:srgbClr val="00B9AD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4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4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211325"/>
            <a:ext cx="8437876" cy="47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68" name="Google Shape;168;p35"/>
          <p:cNvSpPr txBox="1"/>
          <p:nvPr>
            <p:ph type="title"/>
          </p:nvPr>
        </p:nvSpPr>
        <p:spPr>
          <a:xfrm>
            <a:off x="674458" y="438394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30">
                <a:solidFill>
                  <a:srgbClr val="AF7B51"/>
                </a:solidFill>
                <a:latin typeface="Nunito"/>
                <a:ea typeface="Nunito"/>
                <a:cs typeface="Nunito"/>
                <a:sym typeface="Nunito"/>
              </a:rPr>
              <a:t>Contoh Jawaban </a:t>
            </a:r>
            <a:endParaRPr sz="2310"/>
          </a:p>
        </p:txBody>
      </p:sp>
      <p:pic>
        <p:nvPicPr>
          <p:cNvPr id="169" name="Google Shape;16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687325"/>
            <a:ext cx="8645851" cy="40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800"/>
              <a:buNone/>
            </a:pPr>
            <a:r>
              <a:t/>
            </a:r>
            <a:endParaRPr/>
          </a:p>
        </p:txBody>
      </p:sp>
      <p:sp>
        <p:nvSpPr>
          <p:cNvPr id="175" name="Google Shape;175;p36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75396"/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Pembagian Kelompok Angkatan 21</a:t>
            </a:r>
            <a:endParaRPr/>
          </a:p>
        </p:txBody>
      </p:sp>
      <p:pic>
        <p:nvPicPr>
          <p:cNvPr id="176" name="Google Shape;17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525" y="1681157"/>
            <a:ext cx="2105025" cy="178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36"/>
          <p:cNvCxnSpPr/>
          <p:nvPr/>
        </p:nvCxnSpPr>
        <p:spPr>
          <a:xfrm>
            <a:off x="2530675" y="732725"/>
            <a:ext cx="34200" cy="4110300"/>
          </a:xfrm>
          <a:prstGeom prst="straightConnector1">
            <a:avLst/>
          </a:prstGeom>
          <a:noFill/>
          <a:ln cap="flat" cmpd="sng" w="38100">
            <a:solidFill>
              <a:srgbClr val="00B6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36"/>
          <p:cNvSpPr txBox="1"/>
          <p:nvPr/>
        </p:nvSpPr>
        <p:spPr>
          <a:xfrm>
            <a:off x="5601800" y="639425"/>
            <a:ext cx="3210000" cy="4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4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Gayuh Afika Prahastiwi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Nugroho Agung Wibawa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Lutfiana Nurhayati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Dwi Yustika Hidayati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Enti Evalina Silaen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5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Bekajaya Lahagu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Dear Flowery Ahmad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Aliva Aqila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Sultanah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Gadis Maya Pahlawani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6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Dewi Rahmawanti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Nadya Nur Annisa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Mercy Palamba Rambung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Elis Triani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Tanti Cahyani Syamsiah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79" name="Google Shape;179;p36"/>
          <p:cNvSpPr txBox="1"/>
          <p:nvPr/>
        </p:nvSpPr>
        <p:spPr>
          <a:xfrm>
            <a:off x="2815225" y="550925"/>
            <a:ext cx="3000000" cy="44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1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Syarif hidayatullah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Richa Rahmadani Amalia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Osela Maharani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Irda Nurdin </a:t>
            </a:r>
            <a:endParaRPr sz="13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GB" sz="1300"/>
              <a:t>Arum Kusuma Wardani 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2 : 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Arum Sutria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Rayani Manalu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Dhimaz Dhandy Pradana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Keisha Halimatus Azka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Yuliana Dewi Rushita Sari 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GB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Kelompok 3 :</a:t>
            </a:r>
            <a:endParaRPr b="1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Yeriska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Amri Konadi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Linta Laili Rodhiana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Tiarani Augustine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GB" sz="1300">
                <a:solidFill>
                  <a:schemeClr val="dk1"/>
                </a:solidFill>
              </a:rPr>
              <a:t>Mila Arista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37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3F3F3F"/>
              </a:buClr>
              <a:buSzPts val="3200"/>
              <a:buNone/>
            </a:pPr>
            <a:r>
              <a:t/>
            </a:r>
            <a:endParaRPr/>
          </a:p>
        </p:txBody>
      </p:sp>
      <p:cxnSp>
        <p:nvCxnSpPr>
          <p:cNvPr id="186" name="Google Shape;186;p37"/>
          <p:cNvCxnSpPr/>
          <p:nvPr/>
        </p:nvCxnSpPr>
        <p:spPr>
          <a:xfrm>
            <a:off x="996156" y="4605181"/>
            <a:ext cx="7478100" cy="0"/>
          </a:xfrm>
          <a:prstGeom prst="straightConnector1">
            <a:avLst/>
          </a:prstGeom>
          <a:noFill/>
          <a:ln cap="flat" cmpd="sng" w="19050">
            <a:solidFill>
              <a:srgbClr val="E5E4E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7" name="Google Shape;187;p37"/>
          <p:cNvSpPr txBox="1"/>
          <p:nvPr>
            <p:ph type="title"/>
          </p:nvPr>
        </p:nvSpPr>
        <p:spPr>
          <a:xfrm>
            <a:off x="608433" y="981565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3180">
                <a:solidFill>
                  <a:schemeClr val="dk1"/>
                </a:solidFill>
                <a:highlight>
                  <a:srgbClr val="FFF2CC"/>
                </a:highlight>
              </a:rPr>
              <a:t>LINK SOAL MPI 2 ANGKATAN 21</a:t>
            </a:r>
            <a:endParaRPr sz="2010">
              <a:highlight>
                <a:srgbClr val="FFF2CC"/>
              </a:highlight>
            </a:endParaRPr>
          </a:p>
        </p:txBody>
      </p:sp>
      <p:sp>
        <p:nvSpPr>
          <p:cNvPr id="188" name="Google Shape;188;p37"/>
          <p:cNvSpPr txBox="1"/>
          <p:nvPr/>
        </p:nvSpPr>
        <p:spPr>
          <a:xfrm>
            <a:off x="359550" y="1438984"/>
            <a:ext cx="842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3000">
                <a:solidFill>
                  <a:schemeClr val="hlink"/>
                </a:solidFill>
                <a:uFill>
                  <a:noFill/>
                </a:u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s.kemkes.go.id/gel3_soalmpi2</a:t>
            </a:r>
            <a:endParaRPr b="1" sz="3000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9" name="Google Shape;189;p37"/>
          <p:cNvSpPr txBox="1"/>
          <p:nvPr>
            <p:ph type="title"/>
          </p:nvPr>
        </p:nvSpPr>
        <p:spPr>
          <a:xfrm>
            <a:off x="721958" y="2707472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00">
                <a:solidFill>
                  <a:srgbClr val="AF7B51"/>
                </a:solidFill>
                <a:highlight>
                  <a:srgbClr val="FFF2CC"/>
                </a:highlight>
              </a:rPr>
              <a:t>ICD 10 (IM), ICD 9CM (IM), dan ICS</a:t>
            </a:r>
            <a:endParaRPr sz="3000">
              <a:solidFill>
                <a:srgbClr val="AF7B51"/>
              </a:solidFill>
              <a:highlight>
                <a:srgbClr val="FFF2CC"/>
              </a:highlight>
            </a:endParaRPr>
          </a:p>
        </p:txBody>
      </p:sp>
      <p:sp>
        <p:nvSpPr>
          <p:cNvPr id="190" name="Google Shape;190;p37"/>
          <p:cNvSpPr txBox="1"/>
          <p:nvPr/>
        </p:nvSpPr>
        <p:spPr>
          <a:xfrm>
            <a:off x="501450" y="3143478"/>
            <a:ext cx="814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GB" sz="3000">
                <a:solidFill>
                  <a:srgbClr val="233A4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 ICD</a:t>
            </a:r>
            <a:r>
              <a:rPr b="1" i="0" lang="en-GB" sz="3000" u="none" cap="none" strike="noStrike">
                <a:solidFill>
                  <a:srgbClr val="233A4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r>
              <a:rPr b="1" i="0" lang="en-GB" sz="3000" u="none" cap="none" strike="noStrike">
                <a:solidFill>
                  <a:srgbClr val="233A44"/>
                </a:solidFill>
                <a:uFill>
                  <a:noFill/>
                </a:u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i="0" lang="en-GB" sz="3000" cap="none" strike="noStrik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s.kemkes.go.id/icd_ics</a:t>
            </a:r>
            <a:endParaRPr b="1" i="0" sz="3000" cap="none" strike="noStrike">
              <a:solidFill>
                <a:schemeClr val="hlink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8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96" name="Google Shape;196;p38"/>
          <p:cNvSpPr txBox="1"/>
          <p:nvPr>
            <p:ph type="title"/>
          </p:nvPr>
        </p:nvSpPr>
        <p:spPr>
          <a:xfrm>
            <a:off x="721950" y="286263"/>
            <a:ext cx="7700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GB" sz="3000">
                <a:solidFill>
                  <a:schemeClr val="dk1"/>
                </a:solidFill>
                <a:highlight>
                  <a:srgbClr val="00B6AA"/>
                </a:highlight>
              </a:rPr>
              <a:t>L</a:t>
            </a:r>
            <a:r>
              <a:rPr lang="en-GB" sz="3000">
                <a:solidFill>
                  <a:schemeClr val="dk1"/>
                </a:solidFill>
                <a:highlight>
                  <a:srgbClr val="00B6AA"/>
                </a:highlight>
              </a:rPr>
              <a:t>ink Lembar Jawaban</a:t>
            </a:r>
            <a:endParaRPr>
              <a:solidFill>
                <a:schemeClr val="dk1"/>
              </a:solidFill>
              <a:highlight>
                <a:srgbClr val="00B6AA"/>
              </a:highlight>
            </a:endParaRPr>
          </a:p>
        </p:txBody>
      </p:sp>
      <p:sp>
        <p:nvSpPr>
          <p:cNvPr id="197" name="Google Shape;197;p38"/>
          <p:cNvSpPr txBox="1"/>
          <p:nvPr/>
        </p:nvSpPr>
        <p:spPr>
          <a:xfrm>
            <a:off x="0" y="1015789"/>
            <a:ext cx="89802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1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/>
              </a:rPr>
              <a:t>s.kemkes.go.id/mpi2_kel1a21</a:t>
            </a:r>
            <a:endParaRPr b="1" sz="22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2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/>
              </a:rPr>
              <a:t>s.kemkes.go.id/mpi2_kel2a21</a:t>
            </a:r>
            <a:endParaRPr b="1" sz="22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3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/>
              </a:rPr>
              <a:t>s.kemkes.go.id/mpi2_kel3a21</a:t>
            </a:r>
            <a:endParaRPr b="1" sz="22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4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/>
              </a:rPr>
              <a:t>s.kemkes.go.id/mpi2_kel4a21</a:t>
            </a:r>
            <a:endParaRPr b="1" sz="22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5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7"/>
              </a:rPr>
              <a:t>s.kemkes.go.id/mpi2_kel5a21</a:t>
            </a:r>
            <a:endParaRPr b="1" sz="22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kelompok 6  ⇒ </a:t>
            </a:r>
            <a:r>
              <a:rPr b="1" lang="en-GB" sz="2200" u="sng">
                <a:solidFill>
                  <a:schemeClr val="hlink"/>
                </a:solidFill>
                <a:latin typeface="Century Gothic"/>
                <a:ea typeface="Century Gothic"/>
                <a:cs typeface="Century Gothic"/>
                <a:sym typeface="Century Gothic"/>
                <a:hlinkClick r:id="rId8"/>
              </a:rPr>
              <a:t>s.kemkes.go.id/mpi2_kel6a21</a:t>
            </a:r>
            <a:endParaRPr b="1" sz="22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p38"/>
          <p:cNvSpPr txBox="1"/>
          <p:nvPr/>
        </p:nvSpPr>
        <p:spPr>
          <a:xfrm>
            <a:off x="816750" y="3668082"/>
            <a:ext cx="77001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000000"/>
                </a:solidFill>
                <a:highlight>
                  <a:srgbClr val="00B6AA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G-Form Jawaban</a:t>
            </a:r>
            <a:endParaRPr b="1" sz="1900">
              <a:solidFill>
                <a:srgbClr val="000000"/>
              </a:solidFill>
              <a:highlight>
                <a:srgbClr val="00B6AA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1620685" y="4174098"/>
            <a:ext cx="60105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300" u="sng">
                <a:solidFill>
                  <a:schemeClr val="hlink"/>
                </a:solidFill>
                <a:highlight>
                  <a:srgbClr val="FFF2CC"/>
                </a:highlight>
                <a:latin typeface="Century Gothic"/>
                <a:ea typeface="Century Gothic"/>
                <a:cs typeface="Century Gothic"/>
                <a:sym typeface="Century Gothic"/>
                <a:hlinkClick r:id="rId9"/>
              </a:rPr>
              <a:t>s.kemkes.go.id/jawabanmpi2gel3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