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Quattrocento Sans"/>
      <p:regular r:id="rId23"/>
      <p:bold r:id="rId24"/>
      <p:italic r:id="rId25"/>
      <p:boldItalic r:id="rId26"/>
    </p:embeddedFon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8" Type="http://schemas.openxmlformats.org/officeDocument/2006/relationships/font" Target="fonts/CenturyGothic-bold.fntdata"/><Relationship Id="rId27" Type="http://schemas.openxmlformats.org/officeDocument/2006/relationships/font" Target="fonts/CenturyGothic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Nunito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49df644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a849df64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3" name="Google Shape;23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5" name="Google Shape;25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79549" y="2262267"/>
            <a:ext cx="2599186" cy="60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 b="-414" l="0" r="49469" t="49904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77" name="Google Shape;77;p16"/>
          <p:cNvPicPr preferRelativeResize="0"/>
          <p:nvPr/>
        </p:nvPicPr>
        <p:blipFill rotWithShape="1">
          <a:blip r:embed="rId2">
            <a:alphaModFix/>
          </a:blip>
          <a:srcRect b="-414" l="0" r="49469" t="49904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79" name="Google Shape;79;p16"/>
          <p:cNvPicPr preferRelativeResize="0"/>
          <p:nvPr/>
        </p:nvPicPr>
        <p:blipFill rotWithShape="1">
          <a:blip r:embed="rId2">
            <a:alphaModFix/>
          </a:blip>
          <a:srcRect b="-414" l="0" r="49469" t="49904"/>
          <a:stretch/>
        </p:blipFill>
        <p:spPr>
          <a:xfrm rot="10800000">
            <a:off x="-1729" y="4507840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4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79549" y="2262267"/>
            <a:ext cx="2599188" cy="60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9" name="Google Shape;119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0" name="Google Shape;120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s.kemkes.go.id/ang_soal_mpi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s.kemkes.go.id/a21kel1_mpi4" TargetMode="External"/><Relationship Id="rId4" Type="http://schemas.openxmlformats.org/officeDocument/2006/relationships/hyperlink" Target="http://s.kemkes.go.id/a21kel2_mpi4" TargetMode="External"/><Relationship Id="rId5" Type="http://schemas.openxmlformats.org/officeDocument/2006/relationships/hyperlink" Target="http://s.kemkes.go.id/a21kel3_mpi4" TargetMode="External"/><Relationship Id="rId6" Type="http://schemas.openxmlformats.org/officeDocument/2006/relationships/hyperlink" Target="http://s.kemkes.go.id/a21kel4_mpi4" TargetMode="External"/><Relationship Id="rId7" Type="http://schemas.openxmlformats.org/officeDocument/2006/relationships/hyperlink" Target="http://s.kemkes.go.id/a21kel5_mpi4" TargetMode="External"/><Relationship Id="rId8" Type="http://schemas.openxmlformats.org/officeDocument/2006/relationships/hyperlink" Target="http://s.kemkes.go.id/a21kel6_mpi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583225" y="96515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-GB" sz="2700">
                <a:solidFill>
                  <a:schemeClr val="dk1"/>
                </a:solidFill>
              </a:rPr>
              <a:t>Penugasan MPI 4</a:t>
            </a:r>
            <a:br>
              <a:rPr lang="en-GB" sz="27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377"/>
              </a:buClr>
              <a:buSzPct val="108620"/>
              <a:buFont typeface="Century Gothic"/>
              <a:buNone/>
            </a:pPr>
            <a:r>
              <a:rPr lang="en-GB" sz="2577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Optimalisasi Input Data dan Penyelesaian Masalah </a:t>
            </a:r>
            <a:r>
              <a:rPr i="1" lang="en-GB" sz="2577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Ungroupable</a:t>
            </a:r>
            <a:r>
              <a:rPr lang="en-GB" sz="2577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pada Aplikasi E-Klaim dalam iDRG</a:t>
            </a:r>
            <a:endParaRPr b="0" sz="2777">
              <a:solidFill>
                <a:schemeClr val="dk1"/>
              </a:solidFill>
            </a:endParaRPr>
          </a:p>
        </p:txBody>
      </p:sp>
      <p:sp>
        <p:nvSpPr>
          <p:cNvPr id="136" name="Google Shape;136;p30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31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143" name="Google Shape;143;p31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31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PANDUAN STUDI KASUS</a:t>
            </a:r>
            <a:endParaRPr sz="1710"/>
          </a:p>
        </p:txBody>
      </p:sp>
      <p:sp>
        <p:nvSpPr>
          <p:cNvPr id="145" name="Google Shape;145;p31"/>
          <p:cNvSpPr txBox="1"/>
          <p:nvPr/>
        </p:nvSpPr>
        <p:spPr>
          <a:xfrm>
            <a:off x="430150" y="659450"/>
            <a:ext cx="8424900" cy="47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ujuan: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setelah melakukan latihan ini, peserta mampu mengoperasionalkan Aplikasi e-klaim, antara lain: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menginput klaim pada aplikasi eklaim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mengidentifikasi permasalahan pada saat penginputan aplikasi klaim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Langkah-langkah: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1.Pada hari sebelum Materi Pelatihan Inti 4, peserta diminta membaca modul aplikasi e-klaim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2.Fasilitator membagi peserta menjadi 6 kelompok dengan masing-masing peserta 5 orang (5 menit).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3.Setiap Peserta dan Kelompok melakukan latihan cara mengoperasionalkan aplikasi e-klaim (30 menit)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4.Setiap Peserta dan Kelompok melakukan input data dan grouping menggunakan aplikasi eklaim (30 menit)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5.Diskusi tanya jawab (25 menit)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Waktu: 2 JPL x 45 menit = 90 menit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594958" y="76960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  <a:t>Langkah Pengerjaan Penugasan</a:t>
            </a:r>
            <a:endParaRPr sz="2800">
              <a:solidFill>
                <a:srgbClr val="233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Jalankan aplikasi E-klaim pada laptop masing-masing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Inputlah kedalam aplikasi Eklaim :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Identitas pasien sesuai dengan resume medis (No RM, Nama, Jenis Kelamin dan tanggal lahir)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Char char="●"/>
            </a:pPr>
            <a:r>
              <a:rPr i="1"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Billing</a:t>
            </a: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 pasien sesuai dengan variabel </a:t>
            </a:r>
            <a:r>
              <a:rPr i="1"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billing </a:t>
            </a: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pada aplikasi Eklaim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89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Char char="●"/>
            </a:pP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kode ICD 10 dan ICD 9 CM yang ada pada resume medis sesuai dengan ketentuan koding klaim JKN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AutoNum type="arabicPeriod"/>
            </a:pPr>
            <a:r>
              <a:rPr i="1"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Capture</a:t>
            </a: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 hasil groupingnya pada google slide yang telah disediakan masing-masing kelompok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Tuliskan hasil grouping dari E-klaim yang sudah diinputkan.</a:t>
            </a:r>
            <a:endParaRPr sz="17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700"/>
              <a:buFont typeface="Roboto"/>
              <a:buAutoNum type="arabicPeriod"/>
            </a:pP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Jika terjadi </a:t>
            </a:r>
            <a:r>
              <a:rPr i="1"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error</a:t>
            </a: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 grouping/</a:t>
            </a:r>
            <a:r>
              <a:rPr i="1"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ungroupable</a:t>
            </a:r>
            <a:r>
              <a:rPr lang="en-GB" sz="17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. maka identifikasilah permasalahan yang terjadi dan alternatif solusinya.</a:t>
            </a:r>
            <a:endParaRPr sz="3000">
              <a:solidFill>
                <a:srgbClr val="233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100"/>
          </a:p>
        </p:txBody>
      </p:sp>
      <p:sp>
        <p:nvSpPr>
          <p:cNvPr id="151" name="Google Shape;151;p32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52" name="Google Shape;152;p32"/>
          <p:cNvSpPr txBox="1"/>
          <p:nvPr>
            <p:ph type="title"/>
          </p:nvPr>
        </p:nvSpPr>
        <p:spPr>
          <a:xfrm>
            <a:off x="721958" y="34756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2700">
                <a:solidFill>
                  <a:schemeClr val="dk1"/>
                </a:solidFill>
                <a:highlight>
                  <a:srgbClr val="00B9AD"/>
                </a:highlight>
                <a:latin typeface="Roboto"/>
                <a:ea typeface="Roboto"/>
                <a:cs typeface="Roboto"/>
                <a:sym typeface="Roboto"/>
              </a:rPr>
              <a:t>TERDIRI DARI 6 KASUS RESUME MEDIS</a:t>
            </a:r>
            <a:endParaRPr sz="2610">
              <a:solidFill>
                <a:schemeClr val="dk1"/>
              </a:solidFill>
              <a:highlight>
                <a:srgbClr val="00B9AD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33"/>
          <p:cNvGrpSpPr/>
          <p:nvPr/>
        </p:nvGrpSpPr>
        <p:grpSpPr>
          <a:xfrm>
            <a:off x="354511" y="192500"/>
            <a:ext cx="6468278" cy="4660668"/>
            <a:chOff x="745536" y="192500"/>
            <a:chExt cx="6468278" cy="4660668"/>
          </a:xfrm>
        </p:grpSpPr>
        <p:pic>
          <p:nvPicPr>
            <p:cNvPr id="158" name="Google Shape;158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5536" y="2762365"/>
              <a:ext cx="6468278" cy="2090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4388" y="192500"/>
              <a:ext cx="6410563" cy="25698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3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61" name="Google Shape;161;p33"/>
          <p:cNvSpPr txBox="1"/>
          <p:nvPr/>
        </p:nvSpPr>
        <p:spPr>
          <a:xfrm>
            <a:off x="6953150" y="610325"/>
            <a:ext cx="1781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GB" sz="25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Contoh Jawaban</a:t>
            </a:r>
            <a:endParaRPr b="1" i="0" sz="2500" u="none" cap="none" strike="noStrike">
              <a:solidFill>
                <a:schemeClr val="accent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33"/>
          <p:cNvSpPr txBox="1"/>
          <p:nvPr/>
        </p:nvSpPr>
        <p:spPr>
          <a:xfrm>
            <a:off x="7003200" y="1665400"/>
            <a:ext cx="21408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Hasil grouping:</a:t>
            </a:r>
            <a:endParaRPr b="1" i="0" sz="1400" u="none" cap="none" strike="noStrike">
              <a:solidFill>
                <a:schemeClr val="accent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GB" sz="1450" u="none" cap="none" strike="noStrike">
                <a:solidFill>
                  <a:srgbClr val="163EF5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 Significant Trauma w/ Other OR Proc.</a:t>
            </a:r>
            <a:endParaRPr b="1" i="0" sz="1450" u="none" cap="none" strike="noStrike">
              <a:solidFill>
                <a:srgbClr val="163EF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1" i="0" sz="1450" u="none" cap="none" strike="noStrike">
              <a:solidFill>
                <a:srgbClr val="163EF5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1" i="0" sz="145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grpSp>
        <p:nvGrpSpPr>
          <p:cNvPr id="168" name="Google Shape;168;p34"/>
          <p:cNvGrpSpPr/>
          <p:nvPr/>
        </p:nvGrpSpPr>
        <p:grpSpPr>
          <a:xfrm>
            <a:off x="556800" y="105825"/>
            <a:ext cx="8533250" cy="4932283"/>
            <a:chOff x="556800" y="105825"/>
            <a:chExt cx="8533250" cy="4932283"/>
          </a:xfrm>
        </p:grpSpPr>
        <p:pic>
          <p:nvPicPr>
            <p:cNvPr id="169" name="Google Shape;16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6800" y="105825"/>
              <a:ext cx="5171830" cy="2411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200" y="2669400"/>
              <a:ext cx="5085025" cy="2368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34"/>
            <p:cNvSpPr txBox="1"/>
            <p:nvPr/>
          </p:nvSpPr>
          <p:spPr>
            <a:xfrm>
              <a:off x="5908450" y="196150"/>
              <a:ext cx="3134100" cy="164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n-GB" sz="19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Jika didapat hasil </a:t>
              </a:r>
              <a:r>
                <a:rPr b="1" i="1" lang="en-GB" sz="19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ungroupable</a:t>
              </a:r>
              <a:r>
                <a:rPr b="1" i="0" lang="en-GB" sz="19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, identifikasi akar permasalahan dan pemecahan permasalahannya</a:t>
              </a:r>
              <a:endParaRPr b="1" i="0" sz="19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34"/>
            <p:cNvSpPr txBox="1"/>
            <p:nvPr/>
          </p:nvSpPr>
          <p:spPr>
            <a:xfrm>
              <a:off x="5955950" y="1951950"/>
              <a:ext cx="3134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Hasil grouping:</a:t>
              </a:r>
              <a:endParaRPr b="1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Unrelated OR Procedure</a:t>
              </a:r>
              <a:endParaRPr b="0" i="0" sz="1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Akar permasalahan:</a:t>
              </a:r>
              <a:endParaRPr b="1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Diagnosa utama tidak berkaitan/</a:t>
              </a:r>
              <a:r>
                <a:rPr b="0" i="1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unrelated</a:t>
              </a:r>
              <a:r>
                <a:rPr b="0" i="0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dengan tindakan</a:t>
              </a:r>
              <a:endParaRPr b="0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Pemecahan Masalah:</a:t>
              </a:r>
              <a:endParaRPr b="0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accent5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Mengubah kode tindakan yang sesuai</a:t>
              </a:r>
              <a:endParaRPr b="0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396"/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Pembagian Kelompok Angkatan 21</a:t>
            </a:r>
            <a:endParaRPr/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25" y="1681157"/>
            <a:ext cx="2105025" cy="178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35"/>
          <p:cNvCxnSpPr/>
          <p:nvPr/>
        </p:nvCxnSpPr>
        <p:spPr>
          <a:xfrm>
            <a:off x="2530675" y="732725"/>
            <a:ext cx="34200" cy="4110300"/>
          </a:xfrm>
          <a:prstGeom prst="straightConnector1">
            <a:avLst/>
          </a:prstGeom>
          <a:noFill/>
          <a:ln cap="flat" cmpd="sng" w="38100">
            <a:solidFill>
              <a:srgbClr val="00B6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35"/>
          <p:cNvSpPr txBox="1"/>
          <p:nvPr/>
        </p:nvSpPr>
        <p:spPr>
          <a:xfrm>
            <a:off x="5556600" y="467075"/>
            <a:ext cx="33324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4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Sultanah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Nadya Nur Annisa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Syarif hidayatullah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Rayani Manalu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Richa Rahmadani Amalia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5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Dhimaz Dhandy Pradana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Amri Konadi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Lutfiana Nurhayati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Dewi Rahmawanti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Aliva Aqila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6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Tiarani Augustine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Enti Evalina Silaen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Arum Sutria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Tanti Cahyani Syamsiah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Dear Flowery Ahmad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2" name="Google Shape;182;p35"/>
          <p:cNvSpPr txBox="1"/>
          <p:nvPr/>
        </p:nvSpPr>
        <p:spPr>
          <a:xfrm>
            <a:off x="2770000" y="520275"/>
            <a:ext cx="30000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1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Bekajaya Lahagu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Mila Arista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Linta Laili Rodhiana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Elis Triani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Mercy Palamba Rambung 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2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Osela Maharani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Keisha Halimatus Azka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Dwi Yustika Hidayati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Gayuh Afika Prahastiwi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Yuliana Dewi Rushita Sari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3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Nugroho Agung Wibawa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Irda Nurdin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Yeriska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Arum Kusuma Wardani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Gadis Maya Pahlawani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8" name="Google Shape;188;p36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189" name="Google Shape;189;p36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36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SOAL MPI 4 ANGKATAN 21</a:t>
            </a:r>
            <a:endParaRPr sz="1710"/>
          </a:p>
        </p:txBody>
      </p:sp>
      <p:sp>
        <p:nvSpPr>
          <p:cNvPr id="191" name="Google Shape;191;p36"/>
          <p:cNvSpPr txBox="1"/>
          <p:nvPr/>
        </p:nvSpPr>
        <p:spPr>
          <a:xfrm>
            <a:off x="359550" y="1874350"/>
            <a:ext cx="8424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25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s.kemkes.go.id/ang_soal_mpi4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674450" y="211324"/>
            <a:ext cx="7700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0" lang="en-GB" sz="3000">
                <a:solidFill>
                  <a:schemeClr val="dk1"/>
                </a:solidFill>
                <a:highlight>
                  <a:srgbClr val="00B6AA"/>
                </a:highlight>
                <a:latin typeface="Nunito"/>
                <a:ea typeface="Nunito"/>
                <a:cs typeface="Nunito"/>
                <a:sym typeface="Nunito"/>
              </a:rPr>
              <a:t>link Lembar Jawaban</a:t>
            </a:r>
            <a:endParaRPr>
              <a:solidFill>
                <a:schemeClr val="dk1"/>
              </a:solidFill>
              <a:highlight>
                <a:srgbClr val="00B6AA"/>
              </a:highlight>
            </a:endParaRPr>
          </a:p>
        </p:txBody>
      </p:sp>
      <p:sp>
        <p:nvSpPr>
          <p:cNvPr id="198" name="Google Shape;198;p37"/>
          <p:cNvSpPr txBox="1"/>
          <p:nvPr/>
        </p:nvSpPr>
        <p:spPr>
          <a:xfrm>
            <a:off x="845175" y="1080175"/>
            <a:ext cx="77001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GB" sz="29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1 </a:t>
            </a:r>
            <a:r>
              <a:rPr b="0" i="0" lang="en-GB" sz="2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b="0" i="0" lang="en-GB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s.kemkes.go.id/a21kel1_mpi4</a:t>
            </a:r>
            <a:endParaRPr b="0" i="0" sz="28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2  ⇒ </a:t>
            </a:r>
            <a:r>
              <a:rPr b="0" i="0" lang="en-GB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s.kemkes.go.id/a21kel2_mpi4</a:t>
            </a:r>
            <a:endParaRPr b="0" i="0" sz="28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3  ⇒ </a:t>
            </a:r>
            <a:r>
              <a:rPr b="0" i="0" lang="en-GB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s.kemkes.go.id/a21kel3_mpi4</a:t>
            </a:r>
            <a:endParaRPr b="0" i="0" sz="28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4  ⇒ </a:t>
            </a:r>
            <a:r>
              <a:rPr b="0" i="0" lang="en-GB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s.kemkes.go.id/a21kel4_mpi4</a:t>
            </a:r>
            <a:endParaRPr b="0" i="0" sz="28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5  ⇒ </a:t>
            </a:r>
            <a:r>
              <a:rPr b="0" i="0" lang="en-GB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s.kemkes.go.id/a21kel5_mpi4</a:t>
            </a:r>
            <a:endParaRPr b="0" i="0" sz="2800" u="none" cap="none" strike="noStrik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6  ⇒</a:t>
            </a:r>
            <a:r>
              <a:rPr b="1" i="0" lang="en-GB" sz="2800" u="none" cap="none" strike="noStrike">
                <a:solidFill>
                  <a:srgbClr val="163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GB" sz="2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s.kemkes.go.id/a21kel6_mpi4</a:t>
            </a:r>
            <a:endParaRPr i="0" sz="2800" u="none" cap="none" strike="noStrike">
              <a:solidFill>
                <a:srgbClr val="163E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