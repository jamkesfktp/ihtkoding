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Quattrocento Sans"/>
      <p:regular r:id="rId23"/>
      <p:bold r:id="rId24"/>
      <p:italic r:id="rId25"/>
      <p:boldItalic r:id="rId26"/>
    </p:embeddedFont>
    <p:embeddedFont>
      <p:font typeface="Century Gothic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QuattrocentoSans-bold.fntdata"/><Relationship Id="rId23" Type="http://schemas.openxmlformats.org/officeDocument/2006/relationships/font" Target="fonts/Quattrocento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QuattrocentoSans-boldItalic.fntdata"/><Relationship Id="rId25" Type="http://schemas.openxmlformats.org/officeDocument/2006/relationships/font" Target="fonts/QuattrocentoSans-italic.fntdata"/><Relationship Id="rId28" Type="http://schemas.openxmlformats.org/officeDocument/2006/relationships/font" Target="fonts/CenturyGothic-bold.fntdata"/><Relationship Id="rId27" Type="http://schemas.openxmlformats.org/officeDocument/2006/relationships/font" Target="fonts/CenturyGothic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enturyGothic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CenturyGothic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a8e1093f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a8e1093f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a8e1093f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a8e1093f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a8e1093f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a8e1093f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a8e1093f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a8e1093f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a8e1093f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a8e1093f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a8e1093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a8e1093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8e1093f6_1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a8e1093f6_1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a8e1093f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a8e1093f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a8e1093f6_8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a8e1093f6_8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a8e1093f6_8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a8e1093f6_8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a8e1093f6_17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a8e1093f6_17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a8e1093f6_8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a8e1093f6_8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a8e1093f6_1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a8e1093f6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a8e1093f6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a8e1093f6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091329"/>
            <a:ext cx="9144000" cy="2052300"/>
          </a:xfrm>
          <a:prstGeom prst="rect">
            <a:avLst/>
          </a:prstGeom>
          <a:solidFill>
            <a:srgbClr val="01737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086792"/>
            <a:ext cx="9094642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9947" y="456940"/>
            <a:ext cx="1914750" cy="44434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3650852"/>
            <a:ext cx="68580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628650" y="137390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B6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2043709" y="4508772"/>
            <a:ext cx="5056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body"/>
          </p:nvPr>
        </p:nvSpPr>
        <p:spPr>
          <a:xfrm>
            <a:off x="3619148" y="2381804"/>
            <a:ext cx="190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0" y="-3518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KELOMPOK 1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27400" y="721650"/>
            <a:ext cx="8223900" cy="24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Penugasan MPI 4</a:t>
            </a:r>
            <a:endParaRPr b="1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7377"/>
              </a:buClr>
              <a:buSzPts val="2800"/>
              <a:buFont typeface="Century Gothic"/>
              <a:buNone/>
            </a:pPr>
            <a:r>
              <a:rPr b="1" i="0" lang="en-GB" sz="2477" u="none" cap="none" strike="noStrike">
                <a:solidFill>
                  <a:srgbClr val="01737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Optimalisasi Input Data dan Penyelesaian Masalah </a:t>
            </a:r>
            <a:r>
              <a:rPr b="1" i="1" lang="en-GB" sz="2477" u="none" cap="none" strike="noStrike">
                <a:solidFill>
                  <a:srgbClr val="01737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Ungroupable</a:t>
            </a:r>
            <a:r>
              <a:rPr b="1" i="0" lang="en-GB" sz="2477" u="none" cap="none" strike="noStrike">
                <a:solidFill>
                  <a:srgbClr val="01737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pada Aplikasi E-Klaim dalam iDRG</a:t>
            </a:r>
            <a:endParaRPr b="1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1143000" y="3650850"/>
            <a:ext cx="6858000" cy="14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600">
                <a:latin typeface="Century Gothic"/>
                <a:ea typeface="Century Gothic"/>
                <a:cs typeface="Century Gothic"/>
                <a:sym typeface="Century Gothic"/>
              </a:rPr>
              <a:t>Disampaikan pada Pelatihan Pengkodean Diagnosis Penyakit dan Tindakan Bagi Tenaga Koder di FPKTL dalam Program JKN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1" sz="16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latin typeface="Century Gothic"/>
                <a:ea typeface="Century Gothic"/>
                <a:cs typeface="Century Gothic"/>
                <a:sym typeface="Century Gothic"/>
              </a:rPr>
              <a:t>Gelombang III</a:t>
            </a:r>
            <a:endParaRPr b="1"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24-29 November 2025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5940883" y="474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AKT </a:t>
            </a:r>
            <a:r>
              <a:rPr b="1" lang="en-GB" sz="4200"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21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4300" y="1723450"/>
            <a:ext cx="6107225" cy="34200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912925" y="324275"/>
            <a:ext cx="75945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Selamat Mengerjakan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Semangaat….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586650" y="96875"/>
            <a:ext cx="79707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Lembar Jawaban </a:t>
            </a:r>
            <a:r>
              <a:rPr b="1" lang="en-GB" sz="2200">
                <a:solidFill>
                  <a:schemeClr val="dk1"/>
                </a:solidFill>
              </a:rPr>
              <a:t>No.1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32575"/>
            <a:ext cx="8839202" cy="381092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479150" y="584600"/>
            <a:ext cx="3186600" cy="6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</a:t>
            </a:r>
            <a:r>
              <a:rPr lang="en-GB" sz="1800">
                <a:solidFill>
                  <a:schemeClr val="dk2"/>
                </a:solidFill>
              </a:rPr>
              <a:t>iagnosa : Z50.1;M54.57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Tindakan : 89.07;93.01;93.34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663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2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268275" y="901275"/>
            <a:ext cx="4954800" cy="3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05500"/>
            <a:ext cx="5059652" cy="322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9050" y="1605500"/>
            <a:ext cx="4184948" cy="322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604518"/>
            <a:ext cx="9144001" cy="73251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325475" y="185025"/>
            <a:ext cx="2397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SOAL NO.2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425" y="739850"/>
            <a:ext cx="8839198" cy="318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/>
        </p:nvSpPr>
        <p:spPr>
          <a:xfrm>
            <a:off x="995875" y="151000"/>
            <a:ext cx="42036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Soal 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734775" y="4015150"/>
            <a:ext cx="79110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Bila dicoding DU j15.0 dan DS E11.5 Ungroupable or unrelated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721725" y="412100"/>
            <a:ext cx="38502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Soal 3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600" y="931850"/>
            <a:ext cx="8839201" cy="327979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1021975" y="4406800"/>
            <a:ext cx="75585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Du utama E11.5 dan DS J15.0 akan didapatkan DRG Ganggrene w wound debridement w/mild cc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300" y="1677325"/>
            <a:ext cx="6165100" cy="3466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/>
          <p:nvPr/>
        </p:nvSpPr>
        <p:spPr>
          <a:xfrm>
            <a:off x="526500" y="252155"/>
            <a:ext cx="7327200" cy="9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SOAL NO.4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DU : H25.2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Prosedur : 13.41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H25.2 kode untuk katarak usia diatas 40-50 tahun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Diagnosis code H25.2 is not valid for patient's age : 28 years 11322 10558 54786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/>
        </p:nvSpPr>
        <p:spPr>
          <a:xfrm>
            <a:off x="1419825" y="1285875"/>
            <a:ext cx="771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200" y="1026188"/>
            <a:ext cx="5498017" cy="30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/>
          <p:nvPr/>
        </p:nvSpPr>
        <p:spPr>
          <a:xfrm>
            <a:off x="803675" y="401825"/>
            <a:ext cx="68178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Solusinya : mengganti kode H25.2 menjadi H26.8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5" name="Google Shape;125;p23"/>
          <p:cNvSpPr txBox="1"/>
          <p:nvPr/>
        </p:nvSpPr>
        <p:spPr>
          <a:xfrm>
            <a:off x="977800" y="4460375"/>
            <a:ext cx="597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Phacoemulsification Cataract Exctraction Proc.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75" y="540825"/>
            <a:ext cx="8839199" cy="195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4"/>
          <p:cNvSpPr txBox="1"/>
          <p:nvPr/>
        </p:nvSpPr>
        <p:spPr>
          <a:xfrm>
            <a:off x="0" y="79125"/>
            <a:ext cx="220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Jawaban No 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938" y="2416450"/>
            <a:ext cx="8554123" cy="250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550" y="775275"/>
            <a:ext cx="8839200" cy="195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 txBox="1"/>
          <p:nvPr/>
        </p:nvSpPr>
        <p:spPr>
          <a:xfrm>
            <a:off x="643725" y="89825"/>
            <a:ext cx="6159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NO 5 Tidak ada nmr SITB, dan Tidak ada kelas rawat (3,2, atau 1)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450" y="2843300"/>
            <a:ext cx="8297499" cy="2104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875" y="910250"/>
            <a:ext cx="8586199" cy="332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 txBox="1"/>
          <p:nvPr/>
        </p:nvSpPr>
        <p:spPr>
          <a:xfrm>
            <a:off x="729275" y="164675"/>
            <a:ext cx="615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No 5 error, tidak bisa di grouper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875" y="910250"/>
            <a:ext cx="8586199" cy="332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7"/>
          <p:cNvSpPr txBox="1"/>
          <p:nvPr/>
        </p:nvSpPr>
        <p:spPr>
          <a:xfrm>
            <a:off x="729275" y="164675"/>
            <a:ext cx="615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No 5 error, tidak bisa di grouper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/>
        </p:nvSpPr>
        <p:spPr>
          <a:xfrm>
            <a:off x="622600" y="215775"/>
            <a:ext cx="2090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SOAL NO.6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7" name="Google Shape;15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600" y="1005400"/>
            <a:ext cx="8839202" cy="3748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/>
        </p:nvSpPr>
        <p:spPr>
          <a:xfrm>
            <a:off x="622600" y="215775"/>
            <a:ext cx="2090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SOAL NO.6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3" name="Google Shape;16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375" y="835700"/>
            <a:ext cx="8839201" cy="393483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9"/>
          <p:cNvSpPr txBox="1"/>
          <p:nvPr/>
        </p:nvSpPr>
        <p:spPr>
          <a:xfrm>
            <a:off x="1935800" y="4654825"/>
            <a:ext cx="132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5" name="Google Shape;165;p29"/>
          <p:cNvSpPr txBox="1"/>
          <p:nvPr/>
        </p:nvSpPr>
        <p:spPr>
          <a:xfrm>
            <a:off x="1087250" y="4628725"/>
            <a:ext cx="5939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Prosedur ditambahkan 00.40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