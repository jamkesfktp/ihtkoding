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Quattrocento Sans"/>
      <p:regular r:id="rId19"/>
      <p:bold r:id="rId20"/>
      <p:italic r:id="rId21"/>
      <p:boldItalic r:id="rId22"/>
    </p:embeddedFont>
    <p:embeddedFont>
      <p:font typeface="Century Gothic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22" Type="http://schemas.openxmlformats.org/officeDocument/2006/relationships/font" Target="fonts/QuattrocentoSans-boldItalic.fntdata"/><Relationship Id="rId21" Type="http://schemas.openxmlformats.org/officeDocument/2006/relationships/font" Target="fonts/QuattrocentoSans-italic.fntdata"/><Relationship Id="rId24" Type="http://schemas.openxmlformats.org/officeDocument/2006/relationships/font" Target="fonts/CenturyGothic-bold.fntdata"/><Relationship Id="rId23" Type="http://schemas.openxmlformats.org/officeDocument/2006/relationships/font" Target="fonts/CenturyGothic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boldItalic.fntdata"/><Relationship Id="rId25" Type="http://schemas.openxmlformats.org/officeDocument/2006/relationships/font" Target="fonts/CenturyGothic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QuattrocentoSa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a8fab5c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a8fab5c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a8fab5ce3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a8fab5ce3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a8fab5ce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a8fab5ce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8fab5ce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a8fab5ce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a8fab5ce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a8fab5ce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a8fab5ce3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a8fab5ce3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a8fab5ce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a8fab5ce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a8fab5ce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a8fab5ce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a8fab5ce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a8fab5ce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a8fab5ce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a8fab5ce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0" y="-3518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KELOMPOK 3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27400" y="721650"/>
            <a:ext cx="82239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Penugasan MPI 4</a:t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377"/>
              </a:buClr>
              <a:buSzPts val="2800"/>
              <a:buFont typeface="Century Gothic"/>
              <a:buNone/>
            </a:pPr>
            <a:r>
              <a:rPr b="1" i="0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Optimalisasi Input Data dan Penyelesaian Masalah </a:t>
            </a:r>
            <a:r>
              <a:rPr b="1" i="1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Ungroupable</a:t>
            </a:r>
            <a:r>
              <a:rPr b="1" i="0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pada Aplikasi E-Klaim dalam iDRG</a:t>
            </a:r>
            <a:endParaRPr b="1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24-29 November 2025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5940883" y="474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AKT </a:t>
            </a:r>
            <a:r>
              <a:rPr b="1" lang="en-GB" sz="4200"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21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300" y="1723450"/>
            <a:ext cx="6107225" cy="3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912925" y="324275"/>
            <a:ext cx="7594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Selamat Mengerjakan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Semangaat….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586650" y="96875"/>
            <a:ext cx="79707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Lembar Jawaban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586650" y="467100"/>
            <a:ext cx="8265000" cy="17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Jawaban no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Ungroupable or Unrelated →</a:t>
            </a:r>
            <a:r>
              <a:rPr lang="en-GB" sz="12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ketika sistem grouper tidak bisa menemukan kecocokan antara kode diagnosis dan tindakan yang dimasukkan kedalam sistem.</a:t>
            </a:r>
            <a:endParaRPr sz="12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Error: Rehab. Comprehensive Exam. w/o Diagnostic Procedures —&gt; </a:t>
            </a:r>
            <a:r>
              <a:rPr lang="en-GB" sz="12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Tidak sesuai pedoman iDRG</a:t>
            </a:r>
            <a:r>
              <a:rPr lang="en-GB" sz="125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—&gt;</a:t>
            </a:r>
            <a:r>
              <a:rPr lang="en-GB" sz="12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karena menggunakan kode konsultasi, tidak tindakan rehabilitasi medik.</a:t>
            </a:r>
            <a:endParaRPr sz="12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Penyelesaiannya —&gt;kode tindakan harusnya </a:t>
            </a:r>
            <a:r>
              <a:rPr lang="en-GB" sz="125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uji fungsi dan diathermy (93.39 DAN 93.34)</a:t>
            </a:r>
            <a:endParaRPr sz="125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000" y="1965909"/>
            <a:ext cx="4707000" cy="2929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50" y="1978174"/>
            <a:ext cx="4414649" cy="28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2078750" y="2292275"/>
            <a:ext cx="707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70050" y="-6275"/>
            <a:ext cx="8874000" cy="88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Jawaban No.2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Ungroupable or Unrelated → karena ada Koding SC yg belum terinput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050" y="728588"/>
            <a:ext cx="9144002" cy="424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288900" y="238650"/>
            <a:ext cx="8704500" cy="86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Penyelesaian: setelah ditambahkan kode Z37.2 baru bisa Groupable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7750"/>
            <a:ext cx="8065051" cy="373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3300"/>
            <a:ext cx="8839200" cy="37902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/>
          <p:nvPr/>
        </p:nvSpPr>
        <p:spPr>
          <a:xfrm>
            <a:off x="772675" y="201175"/>
            <a:ext cx="6062400" cy="57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Jawaban No.3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5550" y="1249299"/>
            <a:ext cx="7752599" cy="3814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/>
          <p:nvPr/>
        </p:nvSpPr>
        <p:spPr>
          <a:xfrm>
            <a:off x="1431025" y="160025"/>
            <a:ext cx="5294400" cy="83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Koding diagnosa e11.5 menjadi primer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270050" y="-6275"/>
            <a:ext cx="8408700" cy="88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Jawaban No.4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Penyelesaian kode diagnosa utama , h25.2 menjadi h26.9</a:t>
            </a:r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185025" y="1440975"/>
            <a:ext cx="8861100" cy="397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25" y="990675"/>
            <a:ext cx="8801101" cy="40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682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>
            <a:off x="333600" y="0"/>
            <a:ext cx="2725800" cy="49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Jawaban No 5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 rotWithShape="1">
          <a:blip r:embed="rId3">
            <a:alphaModFix/>
          </a:blip>
          <a:srcRect b="6760" l="0" r="1681" t="0"/>
          <a:stretch/>
        </p:blipFill>
        <p:spPr>
          <a:xfrm>
            <a:off x="138150" y="624875"/>
            <a:ext cx="8778876" cy="45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87825"/>
            <a:ext cx="8839199" cy="3835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4"/>
          <p:cNvSpPr/>
          <p:nvPr/>
        </p:nvSpPr>
        <p:spPr>
          <a:xfrm>
            <a:off x="333600" y="0"/>
            <a:ext cx="2725800" cy="49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Penyelesaian: Kode diagnosa U84.31 dihapus 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9600"/>
            <a:ext cx="8839200" cy="3803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/>
          <p:nvPr/>
        </p:nvSpPr>
        <p:spPr>
          <a:xfrm>
            <a:off x="1417325" y="352050"/>
            <a:ext cx="4238400" cy="68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JAWABN NO 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700" y="1057650"/>
            <a:ext cx="8839202" cy="427116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/>
          <p:nvPr/>
        </p:nvSpPr>
        <p:spPr>
          <a:xfrm>
            <a:off x="1389900" y="297175"/>
            <a:ext cx="4951500" cy="48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Tambhakan procedur venanya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