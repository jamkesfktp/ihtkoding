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Quattrocento Sans"/>
      <p:regular r:id="rId18"/>
      <p:bold r:id="rId19"/>
      <p:italic r:id="rId20"/>
      <p:boldItalic r:id="rId21"/>
    </p:embeddedFont>
    <p:embeddedFont>
      <p:font typeface="Century Gothic"/>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ttrocentoSans-italic.fntdata"/><Relationship Id="rId22" Type="http://schemas.openxmlformats.org/officeDocument/2006/relationships/font" Target="fonts/CenturyGothic-regular.fntdata"/><Relationship Id="rId21" Type="http://schemas.openxmlformats.org/officeDocument/2006/relationships/font" Target="fonts/QuattrocentoSans-boldItalic.fntdata"/><Relationship Id="rId24" Type="http://schemas.openxmlformats.org/officeDocument/2006/relationships/font" Target="fonts/CenturyGothic-italic.fntdata"/><Relationship Id="rId23"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QuattrocentoSans-bold.fntdata"/><Relationship Id="rId18" Type="http://schemas.openxmlformats.org/officeDocument/2006/relationships/font" Target="fonts/Quattrocento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a8f0ea51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aa8f0ea51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a8f0ea518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3aa8f0ea518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a8f0ea518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a8f0ea518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a8f0ea518_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a8f0ea518_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a8f0ea518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aa8f0ea518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a8f0ea518_8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a8f0ea518_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a8f0ea518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aa8f0ea518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a8f0ea518_1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a8f0ea518_1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a8f0ea518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3aa8f0ea518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9" name="Shape 9"/>
        <p:cNvGrpSpPr/>
        <p:nvPr/>
      </p:nvGrpSpPr>
      <p:grpSpPr>
        <a:xfrm>
          <a:off x="0" y="0"/>
          <a:ext cx="0" cy="0"/>
          <a:chOff x="0" y="0"/>
          <a:chExt cx="0" cy="0"/>
        </a:xfrm>
      </p:grpSpPr>
      <p:sp>
        <p:nvSpPr>
          <p:cNvPr id="10" name="Google Shape;10;p2"/>
          <p:cNvSpPr/>
          <p:nvPr/>
        </p:nvSpPr>
        <p:spPr>
          <a:xfrm>
            <a:off x="0" y="3091329"/>
            <a:ext cx="9144000" cy="2052300"/>
          </a:xfrm>
          <a:prstGeom prst="rect">
            <a:avLst/>
          </a:prstGeom>
          <a:solidFill>
            <a:srgbClr val="01737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1" name="Google Shape;11;p2"/>
          <p:cNvPicPr preferRelativeResize="0"/>
          <p:nvPr/>
        </p:nvPicPr>
        <p:blipFill rotWithShape="1">
          <a:blip r:embed="rId2">
            <a:alphaModFix/>
          </a:blip>
          <a:srcRect b="0" l="0" r="0" t="0"/>
          <a:stretch/>
        </p:blipFill>
        <p:spPr>
          <a:xfrm>
            <a:off x="-1" y="3086792"/>
            <a:ext cx="9094642" cy="409575"/>
          </a:xfrm>
          <a:prstGeom prst="rect">
            <a:avLst/>
          </a:prstGeom>
          <a:noFill/>
          <a:ln>
            <a:noFill/>
          </a:ln>
        </p:spPr>
      </p:pic>
      <p:pic>
        <p:nvPicPr>
          <p:cNvPr descr="A blue text on a black background&#10;&#10;Description automatically generated" id="12" name="Google Shape;12;p2"/>
          <p:cNvPicPr preferRelativeResize="0"/>
          <p:nvPr/>
        </p:nvPicPr>
        <p:blipFill rotWithShape="1">
          <a:blip r:embed="rId3">
            <a:alphaModFix/>
          </a:blip>
          <a:srcRect b="0" l="0" r="0" t="0"/>
          <a:stretch/>
        </p:blipFill>
        <p:spPr>
          <a:xfrm>
            <a:off x="3589947" y="456940"/>
            <a:ext cx="1914750" cy="444345"/>
          </a:xfrm>
          <a:prstGeom prst="rect">
            <a:avLst/>
          </a:prstGeom>
          <a:noFill/>
          <a:ln>
            <a:noFill/>
          </a:ln>
        </p:spPr>
      </p:pic>
      <p:sp>
        <p:nvSpPr>
          <p:cNvPr id="13" name="Google Shape;13;p2"/>
          <p:cNvSpPr txBox="1"/>
          <p:nvPr>
            <p:ph idx="1" type="subTitle"/>
          </p:nvPr>
        </p:nvSpPr>
        <p:spPr>
          <a:xfrm>
            <a:off x="1143000" y="3650852"/>
            <a:ext cx="6858000" cy="710400"/>
          </a:xfrm>
          <a:prstGeom prst="rect">
            <a:avLst/>
          </a:prstGeom>
          <a:noFill/>
          <a:ln>
            <a:noFill/>
          </a:ln>
        </p:spPr>
        <p:txBody>
          <a:bodyPr anchorCtr="0" anchor="t" bIns="34275" lIns="68575" spcFirstLastPara="1" rIns="68575" wrap="square" tIns="34275">
            <a:normAutofit/>
          </a:bodyPr>
          <a:lstStyle>
            <a:lvl1pPr lvl="0" marR="0" algn="ctr">
              <a:lnSpc>
                <a:spcPct val="90000"/>
              </a:lnSpc>
              <a:spcBef>
                <a:spcPts val="800"/>
              </a:spcBef>
              <a:spcAft>
                <a:spcPts val="0"/>
              </a:spcAft>
              <a:buClr>
                <a:schemeClr val="lt1"/>
              </a:buClr>
              <a:buSzPts val="1900"/>
              <a:buFont typeface="Arial"/>
              <a:buNone/>
              <a:defRPr b="0" i="0" sz="1900" u="none" cap="none" strike="noStrike">
                <a:solidFill>
                  <a:schemeClr val="lt1"/>
                </a:solidFill>
                <a:latin typeface="Quattrocento Sans"/>
                <a:ea typeface="Quattrocento Sans"/>
                <a:cs typeface="Quattrocento Sans"/>
                <a:sym typeface="Quattrocento Sans"/>
              </a:defRPr>
            </a:lvl1pPr>
            <a:lvl2pPr lvl="1" marR="0" algn="ctr">
              <a:lnSpc>
                <a:spcPct val="90000"/>
              </a:lnSpc>
              <a:spcBef>
                <a:spcPts val="12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lvl="2" marR="0" algn="ctr">
              <a:lnSpc>
                <a:spcPct val="90000"/>
              </a:lnSpc>
              <a:spcBef>
                <a:spcPts val="12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lvl="3"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lvl="4"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lvl="5"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lvl="6"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lvl="7"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lvl="8" marR="0" algn="ctr">
              <a:lnSpc>
                <a:spcPct val="90000"/>
              </a:lnSpc>
              <a:spcBef>
                <a:spcPts val="1200"/>
              </a:spcBef>
              <a:spcAft>
                <a:spcPts val="120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sp>
        <p:nvSpPr>
          <p:cNvPr id="14" name="Google Shape;14;p2"/>
          <p:cNvSpPr txBox="1"/>
          <p:nvPr>
            <p:ph type="title"/>
          </p:nvPr>
        </p:nvSpPr>
        <p:spPr>
          <a:xfrm>
            <a:off x="628650" y="1373906"/>
            <a:ext cx="7886700" cy="707400"/>
          </a:xfrm>
          <a:prstGeom prst="rect">
            <a:avLst/>
          </a:prstGeom>
          <a:noFill/>
          <a:ln>
            <a:noFill/>
          </a:ln>
        </p:spPr>
        <p:txBody>
          <a:bodyPr anchorCtr="0" anchor="t" bIns="34275" lIns="68575" spcFirstLastPara="1" rIns="68575" wrap="square" tIns="34275">
            <a:normAutofit/>
          </a:bodyPr>
          <a:lstStyle>
            <a:lvl1pPr lvl="0" marR="0" algn="ctr">
              <a:lnSpc>
                <a:spcPct val="90000"/>
              </a:lnSpc>
              <a:spcBef>
                <a:spcPts val="0"/>
              </a:spcBef>
              <a:spcAft>
                <a:spcPts val="0"/>
              </a:spcAft>
              <a:buClr>
                <a:srgbClr val="00B6AA"/>
              </a:buClr>
              <a:buSzPts val="2400"/>
              <a:buFont typeface="Arial"/>
              <a:buNone/>
              <a:defRPr b="1" i="0" sz="2400" u="none" cap="none" strike="noStrike">
                <a:solidFill>
                  <a:srgbClr val="00B6AA"/>
                </a:solidFill>
                <a:latin typeface="Arial"/>
                <a:ea typeface="Arial"/>
                <a:cs typeface="Arial"/>
                <a:sym typeface="Arial"/>
              </a:defRPr>
            </a:lvl1pPr>
            <a:lvl2pPr lvl="1" algn="l">
              <a:lnSpc>
                <a:spcPct val="100000"/>
              </a:lnSpc>
              <a:spcBef>
                <a:spcPts val="0"/>
              </a:spcBef>
              <a:spcAft>
                <a:spcPts val="0"/>
              </a:spcAft>
              <a:buSzPts val="2800"/>
              <a:buNone/>
              <a:defRPr sz="1400"/>
            </a:lvl2pPr>
            <a:lvl3pPr lvl="2" algn="l">
              <a:lnSpc>
                <a:spcPct val="100000"/>
              </a:lnSpc>
              <a:spcBef>
                <a:spcPts val="0"/>
              </a:spcBef>
              <a:spcAft>
                <a:spcPts val="0"/>
              </a:spcAft>
              <a:buSzPts val="2800"/>
              <a:buNone/>
              <a:defRPr sz="1400"/>
            </a:lvl3pPr>
            <a:lvl4pPr lvl="3" algn="l">
              <a:lnSpc>
                <a:spcPct val="100000"/>
              </a:lnSpc>
              <a:spcBef>
                <a:spcPts val="0"/>
              </a:spcBef>
              <a:spcAft>
                <a:spcPts val="0"/>
              </a:spcAft>
              <a:buSzPts val="2800"/>
              <a:buNone/>
              <a:defRPr sz="1400"/>
            </a:lvl4pPr>
            <a:lvl5pPr lvl="4" algn="l">
              <a:lnSpc>
                <a:spcPct val="100000"/>
              </a:lnSpc>
              <a:spcBef>
                <a:spcPts val="0"/>
              </a:spcBef>
              <a:spcAft>
                <a:spcPts val="0"/>
              </a:spcAft>
              <a:buSzPts val="2800"/>
              <a:buNone/>
              <a:defRPr sz="1400"/>
            </a:lvl5pPr>
            <a:lvl6pPr lvl="5" algn="l">
              <a:lnSpc>
                <a:spcPct val="100000"/>
              </a:lnSpc>
              <a:spcBef>
                <a:spcPts val="0"/>
              </a:spcBef>
              <a:spcAft>
                <a:spcPts val="0"/>
              </a:spcAft>
              <a:buSzPts val="2800"/>
              <a:buNone/>
              <a:defRPr sz="1400"/>
            </a:lvl6pPr>
            <a:lvl7pPr lvl="6" algn="l">
              <a:lnSpc>
                <a:spcPct val="100000"/>
              </a:lnSpc>
              <a:spcBef>
                <a:spcPts val="0"/>
              </a:spcBef>
              <a:spcAft>
                <a:spcPts val="0"/>
              </a:spcAft>
              <a:buSzPts val="2800"/>
              <a:buNone/>
              <a:defRPr sz="1400"/>
            </a:lvl7pPr>
            <a:lvl8pPr lvl="7" algn="l">
              <a:lnSpc>
                <a:spcPct val="100000"/>
              </a:lnSpc>
              <a:spcBef>
                <a:spcPts val="0"/>
              </a:spcBef>
              <a:spcAft>
                <a:spcPts val="0"/>
              </a:spcAft>
              <a:buSzPts val="2800"/>
              <a:buNone/>
              <a:defRPr sz="1400"/>
            </a:lvl8pPr>
            <a:lvl9pPr lvl="8" algn="l">
              <a:lnSpc>
                <a:spcPct val="100000"/>
              </a:lnSpc>
              <a:spcBef>
                <a:spcPts val="0"/>
              </a:spcBef>
              <a:spcAft>
                <a:spcPts val="0"/>
              </a:spcAft>
              <a:buSzPts val="2800"/>
              <a:buNone/>
              <a:defRPr sz="1400"/>
            </a:lvl9pPr>
          </a:lstStyle>
          <a:p/>
        </p:txBody>
      </p:sp>
      <p:sp>
        <p:nvSpPr>
          <p:cNvPr id="15" name="Google Shape;15;p2"/>
          <p:cNvSpPr txBox="1"/>
          <p:nvPr>
            <p:ph idx="2" type="body"/>
          </p:nvPr>
        </p:nvSpPr>
        <p:spPr>
          <a:xfrm>
            <a:off x="2043709" y="4508772"/>
            <a:ext cx="5056800" cy="442200"/>
          </a:xfrm>
          <a:prstGeom prst="rect">
            <a:avLst/>
          </a:prstGeom>
          <a:noFill/>
          <a:ln>
            <a:noFill/>
          </a:ln>
        </p:spPr>
        <p:txBody>
          <a:bodyPr anchorCtr="0" anchor="t" bIns="34275" lIns="68575" spcFirstLastPara="1" rIns="68575" wrap="square" tIns="34275">
            <a:normAutofit/>
          </a:bodyPr>
          <a:lstStyle>
            <a:lvl1pPr indent="-228600" lvl="0" marL="457200" marR="0" algn="ctr">
              <a:lnSpc>
                <a:spcPct val="90000"/>
              </a:lnSpc>
              <a:spcBef>
                <a:spcPts val="800"/>
              </a:spcBef>
              <a:spcAft>
                <a:spcPts val="0"/>
              </a:spcAft>
              <a:buClr>
                <a:schemeClr val="lt1"/>
              </a:buClr>
              <a:buSzPts val="1400"/>
              <a:buFont typeface="Arial"/>
              <a:buNone/>
              <a:defRPr b="1" i="0" sz="1400" u="none" cap="none" strike="noStrike">
                <a:solidFill>
                  <a:schemeClr val="lt1"/>
                </a:solidFill>
                <a:latin typeface="Quattrocento Sans"/>
                <a:ea typeface="Quattrocento Sans"/>
                <a:cs typeface="Quattrocento Sans"/>
                <a:sym typeface="Quattrocento Sans"/>
              </a:defRPr>
            </a:lvl1pPr>
            <a:lvl2pPr indent="-228600" lvl="1" marL="914400" marR="0" algn="l">
              <a:lnSpc>
                <a:spcPct val="90000"/>
              </a:lnSpc>
              <a:spcBef>
                <a:spcPts val="12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 name="Google Shape;16;p2"/>
          <p:cNvSpPr txBox="1"/>
          <p:nvPr>
            <p:ph idx="3" type="body"/>
          </p:nvPr>
        </p:nvSpPr>
        <p:spPr>
          <a:xfrm>
            <a:off x="3619148" y="2381804"/>
            <a:ext cx="1905900" cy="409500"/>
          </a:xfrm>
          <a:prstGeom prst="rect">
            <a:avLst/>
          </a:prstGeom>
          <a:noFill/>
          <a:ln>
            <a:noFill/>
          </a:ln>
        </p:spPr>
        <p:txBody>
          <a:bodyPr anchorCtr="0" anchor="ctr" bIns="34275" lIns="68575" spcFirstLastPara="1" rIns="68575" wrap="square" tIns="34275">
            <a:normAutofit/>
          </a:bodyPr>
          <a:lstStyle>
            <a:lvl1pPr indent="-228600" lvl="0" marL="457200" marR="0" algn="ctr">
              <a:lnSpc>
                <a:spcPct val="90000"/>
              </a:lnSpc>
              <a:spcBef>
                <a:spcPts val="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1pPr>
            <a:lvl2pPr indent="-342900" lvl="1" marL="914400" marR="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5" name="Google Shape;25;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6" name="Google Shape;26;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9" name="Google Shape;2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8" name="Google Shape;48;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0" name="Google Shape;5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3" name="Google Shape;53;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 name="Google Shape;56;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7" name="Google Shape;5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0" y="-3518"/>
            <a:ext cx="3205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200"/>
              <a:buFont typeface="Arial"/>
              <a:buNone/>
            </a:pPr>
            <a:r>
              <a:rPr b="1" i="0" lang="en-GB" sz="4200" u="none" cap="none" strike="noStrike">
                <a:solidFill>
                  <a:srgbClr val="000000"/>
                </a:solidFill>
                <a:highlight>
                  <a:srgbClr val="00FF00"/>
                </a:highlight>
                <a:latin typeface="Calibri"/>
                <a:ea typeface="Calibri"/>
                <a:cs typeface="Calibri"/>
                <a:sym typeface="Calibri"/>
              </a:rPr>
              <a:t>KELOMPOK 6</a:t>
            </a:r>
            <a:endParaRPr b="1" i="0" sz="4200" u="none" cap="none" strike="noStrike">
              <a:solidFill>
                <a:srgbClr val="000000"/>
              </a:solidFill>
              <a:highlight>
                <a:srgbClr val="00FF00"/>
              </a:highlight>
              <a:latin typeface="Calibri"/>
              <a:ea typeface="Calibri"/>
              <a:cs typeface="Calibri"/>
              <a:sym typeface="Calibri"/>
            </a:endParaRPr>
          </a:p>
        </p:txBody>
      </p:sp>
      <p:sp>
        <p:nvSpPr>
          <p:cNvPr id="63" name="Google Shape;63;p14"/>
          <p:cNvSpPr txBox="1"/>
          <p:nvPr/>
        </p:nvSpPr>
        <p:spPr>
          <a:xfrm>
            <a:off x="427400" y="721650"/>
            <a:ext cx="8223900" cy="2440500"/>
          </a:xfrm>
          <a:prstGeom prst="rect">
            <a:avLst/>
          </a:prstGeom>
          <a:noFill/>
          <a:ln>
            <a:noFill/>
          </a:ln>
        </p:spPr>
        <p:txBody>
          <a:bodyPr anchorCtr="0" anchor="ctr" bIns="91425" lIns="91425" spcFirstLastPara="1" rIns="91425" wrap="square" tIns="91425">
            <a:normAutofit/>
          </a:bodyPr>
          <a:lstStyle/>
          <a:p>
            <a:pPr indent="0" lvl="0" marL="0" marR="0" rtl="0" algn="ctr">
              <a:lnSpc>
                <a:spcPct val="90000"/>
              </a:lnSpc>
              <a:spcBef>
                <a:spcPts val="0"/>
              </a:spcBef>
              <a:spcAft>
                <a:spcPts val="0"/>
              </a:spcAft>
              <a:buClr>
                <a:schemeClr val="dk1"/>
              </a:buClr>
              <a:buSzPts val="1100"/>
              <a:buFont typeface="Arial"/>
              <a:buNone/>
            </a:pPr>
            <a:r>
              <a:rPr b="1" i="0" lang="en-GB" sz="2700" u="none" cap="none" strike="noStrike">
                <a:solidFill>
                  <a:schemeClr val="dk1"/>
                </a:solidFill>
                <a:latin typeface="Arial"/>
                <a:ea typeface="Arial"/>
                <a:cs typeface="Arial"/>
                <a:sym typeface="Arial"/>
              </a:rPr>
              <a:t>Penugasan MPI 4</a:t>
            </a:r>
            <a:endParaRPr b="1" i="0" sz="2700" u="none" cap="none" strike="noStrike">
              <a:solidFill>
                <a:schemeClr val="dk1"/>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100"/>
              <a:buFont typeface="Arial"/>
              <a:buNone/>
            </a:pPr>
            <a:r>
              <a:t/>
            </a:r>
            <a:endParaRPr b="1" i="0" sz="2700" u="none" cap="none" strike="noStrike">
              <a:solidFill>
                <a:schemeClr val="dk1"/>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1100"/>
              <a:buFont typeface="Arial"/>
              <a:buNone/>
            </a:pPr>
            <a:r>
              <a:t/>
            </a:r>
            <a:endParaRPr b="1" i="0" sz="2700" u="none" cap="none" strike="noStrike">
              <a:solidFill>
                <a:schemeClr val="dk1"/>
              </a:solidFill>
              <a:latin typeface="Arial"/>
              <a:ea typeface="Arial"/>
              <a:cs typeface="Arial"/>
              <a:sym typeface="Arial"/>
            </a:endParaRPr>
          </a:p>
          <a:p>
            <a:pPr indent="0" lvl="0" marL="0" marR="0" rtl="0" algn="ctr">
              <a:lnSpc>
                <a:spcPct val="90000"/>
              </a:lnSpc>
              <a:spcBef>
                <a:spcPts val="0"/>
              </a:spcBef>
              <a:spcAft>
                <a:spcPts val="0"/>
              </a:spcAft>
              <a:buClr>
                <a:srgbClr val="017377"/>
              </a:buClr>
              <a:buSzPts val="2800"/>
              <a:buFont typeface="Century Gothic"/>
              <a:buNone/>
            </a:pPr>
            <a:r>
              <a:rPr b="1" i="0" lang="en-GB" sz="2477" u="none" cap="none" strike="noStrike">
                <a:solidFill>
                  <a:srgbClr val="017377"/>
                </a:solidFill>
                <a:latin typeface="Century Gothic"/>
                <a:ea typeface="Century Gothic"/>
                <a:cs typeface="Century Gothic"/>
                <a:sym typeface="Century Gothic"/>
              </a:rPr>
              <a:t>Optimalisasi Input Data dan Penyelesaian Masalah </a:t>
            </a:r>
            <a:r>
              <a:rPr b="1" i="1" lang="en-GB" sz="2477" u="none" cap="none" strike="noStrike">
                <a:solidFill>
                  <a:srgbClr val="017377"/>
                </a:solidFill>
                <a:latin typeface="Century Gothic"/>
                <a:ea typeface="Century Gothic"/>
                <a:cs typeface="Century Gothic"/>
                <a:sym typeface="Century Gothic"/>
              </a:rPr>
              <a:t>Ungroupable</a:t>
            </a:r>
            <a:r>
              <a:rPr b="1" i="0" lang="en-GB" sz="2477" u="none" cap="none" strike="noStrike">
                <a:solidFill>
                  <a:srgbClr val="017377"/>
                </a:solidFill>
                <a:latin typeface="Century Gothic"/>
                <a:ea typeface="Century Gothic"/>
                <a:cs typeface="Century Gothic"/>
                <a:sym typeface="Century Gothic"/>
              </a:rPr>
              <a:t> pada Aplikasi E-Klaim dalam iDRG</a:t>
            </a:r>
            <a:endParaRPr b="1" i="0" sz="2900" u="none" cap="none" strike="noStrike">
              <a:solidFill>
                <a:srgbClr val="000000"/>
              </a:solidFill>
              <a:latin typeface="Arial"/>
              <a:ea typeface="Arial"/>
              <a:cs typeface="Arial"/>
              <a:sym typeface="Arial"/>
            </a:endParaRPr>
          </a:p>
        </p:txBody>
      </p:sp>
      <p:sp>
        <p:nvSpPr>
          <p:cNvPr id="64" name="Google Shape;64;p14"/>
          <p:cNvSpPr txBox="1"/>
          <p:nvPr>
            <p:ph idx="1" type="subTitle"/>
          </p:nvPr>
        </p:nvSpPr>
        <p:spPr>
          <a:xfrm>
            <a:off x="1143000" y="3650850"/>
            <a:ext cx="6858000" cy="1413900"/>
          </a:xfrm>
          <a:prstGeom prst="rect">
            <a:avLst/>
          </a:prstGeom>
          <a:noFill/>
          <a:ln>
            <a:noFill/>
          </a:ln>
        </p:spPr>
        <p:txBody>
          <a:bodyPr anchorCtr="0" anchor="t" bIns="34275" lIns="68575" spcFirstLastPara="1" rIns="68575" wrap="square" tIns="34275">
            <a:normAutofit lnSpcReduction="10000"/>
          </a:bodyPr>
          <a:lstStyle/>
          <a:p>
            <a:pPr indent="0" lvl="0" marL="0" rtl="0" algn="ctr">
              <a:lnSpc>
                <a:spcPct val="100000"/>
              </a:lnSpc>
              <a:spcBef>
                <a:spcPts val="0"/>
              </a:spcBef>
              <a:spcAft>
                <a:spcPts val="0"/>
              </a:spcAft>
              <a:buClr>
                <a:schemeClr val="lt1"/>
              </a:buClr>
              <a:buSzPts val="1800"/>
              <a:buFont typeface="Arial"/>
              <a:buNone/>
            </a:pPr>
            <a:r>
              <a:rPr lang="en-GB" sz="1600">
                <a:latin typeface="Century Gothic"/>
                <a:ea typeface="Century Gothic"/>
                <a:cs typeface="Century Gothic"/>
                <a:sym typeface="Century Gothic"/>
              </a:rPr>
              <a:t>Disampaikan pada Pelatihan Pengkodean Diagnosis Penyakit dan Tindakan Bagi Tenaga Koder di FPKTL dalam Program JKN</a:t>
            </a:r>
            <a:endParaRPr/>
          </a:p>
          <a:p>
            <a:pPr indent="0" lvl="0" marL="0" rtl="0" algn="ctr">
              <a:lnSpc>
                <a:spcPct val="100000"/>
              </a:lnSpc>
              <a:spcBef>
                <a:spcPts val="0"/>
              </a:spcBef>
              <a:spcAft>
                <a:spcPts val="0"/>
              </a:spcAft>
              <a:buClr>
                <a:schemeClr val="lt1"/>
              </a:buClr>
              <a:buSzPts val="1800"/>
              <a:buFont typeface="Arial"/>
              <a:buNone/>
            </a:pPr>
            <a:r>
              <a:t/>
            </a:r>
            <a:endParaRPr b="1" sz="1600">
              <a:latin typeface="Century Gothic"/>
              <a:ea typeface="Century Gothic"/>
              <a:cs typeface="Century Gothic"/>
              <a:sym typeface="Century Gothic"/>
            </a:endParaRPr>
          </a:p>
          <a:p>
            <a:pPr indent="0" lvl="0" marL="0" rtl="0" algn="ctr">
              <a:lnSpc>
                <a:spcPct val="100000"/>
              </a:lnSpc>
              <a:spcBef>
                <a:spcPts val="0"/>
              </a:spcBef>
              <a:spcAft>
                <a:spcPts val="0"/>
              </a:spcAft>
              <a:buClr>
                <a:schemeClr val="lt1"/>
              </a:buClr>
              <a:buSzPts val="1800"/>
              <a:buFont typeface="Arial"/>
              <a:buNone/>
            </a:pPr>
            <a:r>
              <a:rPr b="1" lang="en-GB" sz="1600">
                <a:latin typeface="Century Gothic"/>
                <a:ea typeface="Century Gothic"/>
                <a:cs typeface="Century Gothic"/>
                <a:sym typeface="Century Gothic"/>
              </a:rPr>
              <a:t>Gelombang III</a:t>
            </a:r>
            <a:endParaRPr b="1" sz="1800"/>
          </a:p>
          <a:p>
            <a:pPr indent="0" lvl="0" marL="0" rtl="0" algn="ctr">
              <a:lnSpc>
                <a:spcPct val="100000"/>
              </a:lnSpc>
              <a:spcBef>
                <a:spcPts val="0"/>
              </a:spcBef>
              <a:spcAft>
                <a:spcPts val="0"/>
              </a:spcAft>
              <a:buClr>
                <a:schemeClr val="lt1"/>
              </a:buClr>
              <a:buSzPts val="1800"/>
              <a:buFont typeface="Arial"/>
              <a:buNone/>
            </a:pPr>
            <a:r>
              <a:t/>
            </a:r>
            <a:endParaRPr sz="1600">
              <a:solidFill>
                <a:schemeClr val="dk1"/>
              </a:solidFill>
              <a:latin typeface="Century Gothic"/>
              <a:ea typeface="Century Gothic"/>
              <a:cs typeface="Century Gothic"/>
              <a:sym typeface="Century Gothic"/>
            </a:endParaRPr>
          </a:p>
          <a:p>
            <a:pPr indent="0" lvl="0" marL="0" rtl="0" algn="ctr">
              <a:lnSpc>
                <a:spcPct val="100000"/>
              </a:lnSpc>
              <a:spcBef>
                <a:spcPts val="0"/>
              </a:spcBef>
              <a:spcAft>
                <a:spcPts val="0"/>
              </a:spcAft>
              <a:buClr>
                <a:schemeClr val="lt1"/>
              </a:buClr>
              <a:buSzPts val="1800"/>
              <a:buFont typeface="Arial"/>
              <a:buNone/>
            </a:pPr>
            <a:r>
              <a:rPr b="1" lang="en-GB" sz="1600">
                <a:solidFill>
                  <a:srgbClr val="F2F2F2"/>
                </a:solidFill>
                <a:latin typeface="Arial"/>
                <a:ea typeface="Arial"/>
                <a:cs typeface="Arial"/>
                <a:sym typeface="Arial"/>
              </a:rPr>
              <a:t> 24-29 November 2025</a:t>
            </a:r>
            <a:endParaRPr/>
          </a:p>
        </p:txBody>
      </p:sp>
      <p:sp>
        <p:nvSpPr>
          <p:cNvPr id="65" name="Google Shape;65;p14"/>
          <p:cNvSpPr txBox="1"/>
          <p:nvPr/>
        </p:nvSpPr>
        <p:spPr>
          <a:xfrm>
            <a:off x="5940883" y="474"/>
            <a:ext cx="3205800" cy="831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4200"/>
              <a:buFont typeface="Arial"/>
              <a:buNone/>
            </a:pPr>
            <a:r>
              <a:rPr b="1" i="0" lang="en-GB" sz="4200" u="none" cap="none" strike="noStrike">
                <a:solidFill>
                  <a:srgbClr val="000000"/>
                </a:solidFill>
                <a:highlight>
                  <a:srgbClr val="00FF00"/>
                </a:highlight>
                <a:latin typeface="Calibri"/>
                <a:ea typeface="Calibri"/>
                <a:cs typeface="Calibri"/>
                <a:sym typeface="Calibri"/>
              </a:rPr>
              <a:t>AKT </a:t>
            </a:r>
            <a:r>
              <a:rPr b="1" lang="en-GB" sz="4200">
                <a:highlight>
                  <a:srgbClr val="00FF00"/>
                </a:highlight>
                <a:latin typeface="Calibri"/>
                <a:ea typeface="Calibri"/>
                <a:cs typeface="Calibri"/>
                <a:sym typeface="Calibri"/>
              </a:rPr>
              <a:t>21</a:t>
            </a:r>
            <a:endParaRPr b="1" i="0" sz="4200" u="none" cap="none" strike="noStrike">
              <a:solidFill>
                <a:srgbClr val="000000"/>
              </a:solidFill>
              <a:highlight>
                <a:srgbClr val="00FF00"/>
              </a:highlight>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5"/>
          <p:cNvPicPr preferRelativeResize="0"/>
          <p:nvPr/>
        </p:nvPicPr>
        <p:blipFill rotWithShape="1">
          <a:blip r:embed="rId3">
            <a:alphaModFix/>
          </a:blip>
          <a:srcRect b="0" l="0" r="0" t="0"/>
          <a:stretch/>
        </p:blipFill>
        <p:spPr>
          <a:xfrm>
            <a:off x="1384300" y="1723450"/>
            <a:ext cx="6107225" cy="3420050"/>
          </a:xfrm>
          <a:prstGeom prst="rect">
            <a:avLst/>
          </a:prstGeom>
          <a:noFill/>
          <a:ln>
            <a:noFill/>
          </a:ln>
        </p:spPr>
      </p:pic>
      <p:sp>
        <p:nvSpPr>
          <p:cNvPr id="71" name="Google Shape;71;p15"/>
          <p:cNvSpPr txBox="1"/>
          <p:nvPr/>
        </p:nvSpPr>
        <p:spPr>
          <a:xfrm>
            <a:off x="912925" y="324275"/>
            <a:ext cx="7594500" cy="109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1" i="0" lang="en-GB" sz="3200" u="none" cap="none" strike="noStrike">
                <a:solidFill>
                  <a:schemeClr val="dk1"/>
                </a:solidFill>
                <a:latin typeface="Arial"/>
                <a:ea typeface="Arial"/>
                <a:cs typeface="Arial"/>
                <a:sym typeface="Arial"/>
              </a:rPr>
              <a:t>Selamat Mengerjakan</a:t>
            </a:r>
            <a:endParaRPr b="1" i="0" sz="3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1" i="0" lang="en-GB" sz="3200" u="none" cap="none" strike="noStrike">
                <a:solidFill>
                  <a:schemeClr val="dk1"/>
                </a:solidFill>
                <a:latin typeface="Arial"/>
                <a:ea typeface="Arial"/>
                <a:cs typeface="Arial"/>
                <a:sym typeface="Arial"/>
              </a:rPr>
              <a:t>Semangaat….</a:t>
            </a:r>
            <a:endParaRPr b="1" i="0" sz="32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4738925" y="503475"/>
            <a:ext cx="4373100" cy="4186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GB" sz="2200" u="none" cap="none" strike="noStrike">
                <a:solidFill>
                  <a:schemeClr val="dk1"/>
                </a:solidFill>
                <a:latin typeface="Arial"/>
                <a:ea typeface="Arial"/>
                <a:cs typeface="Arial"/>
                <a:sym typeface="Arial"/>
              </a:rPr>
              <a:t>Lembar Jawaban no 1</a:t>
            </a:r>
            <a:endParaRPr b="1" i="0" sz="2200" u="none" cap="none" strike="noStrike">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GB" sz="1200">
                <a:solidFill>
                  <a:schemeClr val="dk1"/>
                </a:solidFill>
              </a:rPr>
              <a:t>DX : Terapi Fisik (Z50.1) + LBP LUMBOSACRAL (M54.57)</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Tindakan : Konsultasi Dokter (89.07)</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Didapatkan hasil  ungroupble or unrelated &gt;&gt; error : rehab comprehensive exam, w/o diagnostic procedures</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Solusinya &gt;&gt; </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Pengubah kode konsul 89.07 &gt;&gt; 89.071</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Dan ditambahkan kode rehab medik &gt;&gt; 93.94 </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p:txBody>
      </p:sp>
      <p:pic>
        <p:nvPicPr>
          <p:cNvPr id="77" name="Google Shape;77;p16" title="Screenshot (146).png"/>
          <p:cNvPicPr preferRelativeResize="0"/>
          <p:nvPr/>
        </p:nvPicPr>
        <p:blipFill>
          <a:blip r:embed="rId3">
            <a:alphaModFix/>
          </a:blip>
          <a:stretch>
            <a:fillRect/>
          </a:stretch>
        </p:blipFill>
        <p:spPr>
          <a:xfrm>
            <a:off x="144275" y="0"/>
            <a:ext cx="4373050" cy="2459851"/>
          </a:xfrm>
          <a:prstGeom prst="rect">
            <a:avLst/>
          </a:prstGeom>
          <a:noFill/>
          <a:ln>
            <a:noFill/>
          </a:ln>
        </p:spPr>
      </p:pic>
      <p:pic>
        <p:nvPicPr>
          <p:cNvPr id="78" name="Google Shape;78;p16" title="Screenshot (150).png"/>
          <p:cNvPicPr preferRelativeResize="0"/>
          <p:nvPr/>
        </p:nvPicPr>
        <p:blipFill>
          <a:blip r:embed="rId4">
            <a:alphaModFix/>
          </a:blip>
          <a:stretch>
            <a:fillRect/>
          </a:stretch>
        </p:blipFill>
        <p:spPr>
          <a:xfrm>
            <a:off x="309200" y="2459851"/>
            <a:ext cx="4043208" cy="22742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nvSpPr>
        <p:spPr>
          <a:xfrm>
            <a:off x="4494975" y="96875"/>
            <a:ext cx="4062300" cy="4654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GB" sz="2200" u="none" cap="none" strike="noStrike">
                <a:solidFill>
                  <a:schemeClr val="dk1"/>
                </a:solidFill>
                <a:latin typeface="Arial"/>
                <a:ea typeface="Arial"/>
                <a:cs typeface="Arial"/>
                <a:sym typeface="Arial"/>
              </a:rPr>
              <a:t>Lembar Jawaban no 2</a:t>
            </a:r>
            <a:endParaRPr b="1" i="0" sz="2200" u="none" cap="none" strike="noStrike">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GB" sz="1200">
                <a:solidFill>
                  <a:schemeClr val="dk1"/>
                </a:solidFill>
              </a:rPr>
              <a:t>DX : </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Tindakan : Konsultasi Dokter (89.07)</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Didapatkan hasil  ungroupble or unrelated &gt;&gt; error : rehab comprehensive exam, w/o diagnostic procedures</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Solusinya &gt;&gt; </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Pengahapus</a:t>
            </a:r>
            <a:endParaRPr b="1" sz="1200">
              <a:solidFill>
                <a:schemeClr val="dk1"/>
              </a:solidFill>
            </a:endParaRPr>
          </a:p>
          <a:p>
            <a:pPr indent="0" lvl="0" marL="0" rtl="0" algn="l">
              <a:spcBef>
                <a:spcPts val="0"/>
              </a:spcBef>
              <a:spcAft>
                <a:spcPts val="0"/>
              </a:spcAft>
              <a:buClr>
                <a:schemeClr val="dk1"/>
              </a:buClr>
              <a:buSzPts val="1100"/>
              <a:buFont typeface="Arial"/>
              <a:buNone/>
            </a:pPr>
            <a:r>
              <a:rPr b="1" lang="en-GB" sz="1200">
                <a:solidFill>
                  <a:schemeClr val="dk1"/>
                </a:solidFill>
              </a:rPr>
              <a:t>Dan ditambahkan kode rehab medik &gt;&gt; 93.94 </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200">
              <a:solidFill>
                <a:schemeClr val="dk1"/>
              </a:solidFill>
            </a:endParaRPr>
          </a:p>
          <a:p>
            <a:pPr indent="0" lvl="0" marL="0" marR="0" rtl="0" algn="ctr">
              <a:lnSpc>
                <a:spcPct val="100000"/>
              </a:lnSpc>
              <a:spcBef>
                <a:spcPts val="0"/>
              </a:spcBef>
              <a:spcAft>
                <a:spcPts val="0"/>
              </a:spcAft>
              <a:buClr>
                <a:srgbClr val="000000"/>
              </a:buClr>
              <a:buSzPts val="2200"/>
              <a:buFont typeface="Arial"/>
              <a:buNone/>
            </a:pPr>
            <a:r>
              <a:t/>
            </a:r>
            <a:endParaRPr b="1" sz="2200">
              <a:solidFill>
                <a:schemeClr val="dk1"/>
              </a:solidFill>
            </a:endParaRPr>
          </a:p>
        </p:txBody>
      </p:sp>
      <p:pic>
        <p:nvPicPr>
          <p:cNvPr id="84" name="Google Shape;84;p17" title="Screenshot (151).png"/>
          <p:cNvPicPr preferRelativeResize="0"/>
          <p:nvPr/>
        </p:nvPicPr>
        <p:blipFill>
          <a:blip r:embed="rId3">
            <a:alphaModFix/>
          </a:blip>
          <a:stretch>
            <a:fillRect/>
          </a:stretch>
        </p:blipFill>
        <p:spPr>
          <a:xfrm>
            <a:off x="152400" y="885275"/>
            <a:ext cx="3519202" cy="1979551"/>
          </a:xfrm>
          <a:prstGeom prst="rect">
            <a:avLst/>
          </a:prstGeom>
          <a:noFill/>
          <a:ln>
            <a:noFill/>
          </a:ln>
        </p:spPr>
      </p:pic>
      <p:pic>
        <p:nvPicPr>
          <p:cNvPr id="85" name="Google Shape;85;p17" title="Screenshot (152).png"/>
          <p:cNvPicPr preferRelativeResize="0"/>
          <p:nvPr/>
        </p:nvPicPr>
        <p:blipFill>
          <a:blip r:embed="rId4">
            <a:alphaModFix/>
          </a:blip>
          <a:stretch>
            <a:fillRect/>
          </a:stretch>
        </p:blipFill>
        <p:spPr>
          <a:xfrm>
            <a:off x="152400" y="3017225"/>
            <a:ext cx="3519202" cy="19795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nvSpPr>
        <p:spPr>
          <a:xfrm>
            <a:off x="586650" y="96875"/>
            <a:ext cx="7970700" cy="1178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GB" sz="2200" u="none" cap="none" strike="noStrike">
                <a:solidFill>
                  <a:schemeClr val="dk1"/>
                </a:solidFill>
                <a:latin typeface="Arial"/>
                <a:ea typeface="Arial"/>
                <a:cs typeface="Arial"/>
                <a:sym typeface="Arial"/>
              </a:rPr>
              <a:t>Lembar Jawaban no 3</a:t>
            </a:r>
            <a:endParaRPr b="1" i="0" sz="2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t/>
            </a:r>
            <a:endParaRPr b="1" sz="2200">
              <a:solidFill>
                <a:schemeClr val="dk1"/>
              </a:solidFill>
            </a:endParaRPr>
          </a:p>
        </p:txBody>
      </p:sp>
      <p:pic>
        <p:nvPicPr>
          <p:cNvPr id="91" name="Google Shape;91;p18"/>
          <p:cNvPicPr preferRelativeResize="0"/>
          <p:nvPr/>
        </p:nvPicPr>
        <p:blipFill>
          <a:blip r:embed="rId3">
            <a:alphaModFix/>
          </a:blip>
          <a:stretch>
            <a:fillRect/>
          </a:stretch>
        </p:blipFill>
        <p:spPr>
          <a:xfrm>
            <a:off x="264400" y="665875"/>
            <a:ext cx="5913126" cy="2117874"/>
          </a:xfrm>
          <a:prstGeom prst="rect">
            <a:avLst/>
          </a:prstGeom>
          <a:noFill/>
          <a:ln>
            <a:noFill/>
          </a:ln>
        </p:spPr>
      </p:pic>
      <p:pic>
        <p:nvPicPr>
          <p:cNvPr id="92" name="Google Shape;92;p18"/>
          <p:cNvPicPr preferRelativeResize="0"/>
          <p:nvPr/>
        </p:nvPicPr>
        <p:blipFill>
          <a:blip r:embed="rId4">
            <a:alphaModFix/>
          </a:blip>
          <a:stretch>
            <a:fillRect/>
          </a:stretch>
        </p:blipFill>
        <p:spPr>
          <a:xfrm>
            <a:off x="447875" y="2889225"/>
            <a:ext cx="5770301" cy="2254274"/>
          </a:xfrm>
          <a:prstGeom prst="rect">
            <a:avLst/>
          </a:prstGeom>
          <a:noFill/>
          <a:ln>
            <a:noFill/>
          </a:ln>
        </p:spPr>
      </p:pic>
      <p:sp>
        <p:nvSpPr>
          <p:cNvPr id="93" name="Google Shape;93;p18"/>
          <p:cNvSpPr txBox="1"/>
          <p:nvPr/>
        </p:nvSpPr>
        <p:spPr>
          <a:xfrm>
            <a:off x="6321000" y="716000"/>
            <a:ext cx="2933100" cy="18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Pada soal nomor 3 di dapatkan pasien dpjp utamanya dokter paru tapi ada tindakan debridemen sehingga jika di coding e115 pada sekunder terdapat warning </a:t>
            </a:r>
            <a:r>
              <a:rPr b="1" lang="en-GB" sz="800">
                <a:solidFill>
                  <a:srgbClr val="C00000"/>
                </a:solidFill>
                <a:latin typeface="Century Gothic"/>
                <a:ea typeface="Century Gothic"/>
                <a:cs typeface="Century Gothic"/>
                <a:sym typeface="Century Gothic"/>
              </a:rPr>
              <a:t>Unrelated OR Procedure </a:t>
            </a:r>
            <a:endParaRPr sz="8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800">
              <a:solidFill>
                <a:schemeClr val="dk2"/>
              </a:solidFill>
            </a:endParaRPr>
          </a:p>
        </p:txBody>
      </p:sp>
      <p:sp>
        <p:nvSpPr>
          <p:cNvPr id="94" name="Google Shape;94;p18"/>
          <p:cNvSpPr txBox="1"/>
          <p:nvPr/>
        </p:nvSpPr>
        <p:spPr>
          <a:xfrm>
            <a:off x="6374925" y="3034350"/>
            <a:ext cx="2814300" cy="17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Setelah dilakukan analisis di dapatkan bawha pasien teresebut di dapatkana da nya tindakan debridemen sehingga seharusnya sumberdaya yg terbanyak lah yg mejadi dx utama lalu setelah di putar dx nya menemukan hasil sesuai,,sehingga diskusikan kepada dpjp utama untuk di ganti ke dpjp bedah </a:t>
            </a:r>
            <a:endParaRPr sz="1100">
              <a:solidFill>
                <a:schemeClr val="dk2"/>
              </a:solidFill>
            </a:endParaRPr>
          </a:p>
          <a:p>
            <a:pPr indent="0" lvl="0" marL="0" rtl="0" algn="l">
              <a:spcBef>
                <a:spcPts val="0"/>
              </a:spcBef>
              <a:spcAft>
                <a:spcPts val="0"/>
              </a:spcAft>
              <a:buNone/>
            </a:pPr>
            <a:r>
              <a:t/>
            </a:r>
            <a:endParaRPr sz="11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nvSpPr>
        <p:spPr>
          <a:xfrm>
            <a:off x="0" y="0"/>
            <a:ext cx="81360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200">
                <a:solidFill>
                  <a:schemeClr val="dk1"/>
                </a:solidFill>
              </a:rPr>
              <a:t>Lembar Jawaban no 4</a:t>
            </a:r>
            <a:endParaRPr b="1" sz="2200">
              <a:solidFill>
                <a:schemeClr val="dk1"/>
              </a:solidFill>
            </a:endParaRPr>
          </a:p>
          <a:p>
            <a:pPr indent="0" lvl="0" marL="0" rtl="0" algn="ctr">
              <a:spcBef>
                <a:spcPts val="0"/>
              </a:spcBef>
              <a:spcAft>
                <a:spcPts val="0"/>
              </a:spcAft>
              <a:buNone/>
            </a:pPr>
            <a:r>
              <a:t/>
            </a:r>
            <a:endParaRPr b="1" sz="2200">
              <a:solidFill>
                <a:schemeClr val="dk1"/>
              </a:solidFill>
            </a:endParaRPr>
          </a:p>
        </p:txBody>
      </p:sp>
      <p:pic>
        <p:nvPicPr>
          <p:cNvPr id="100" name="Google Shape;100;p19"/>
          <p:cNvPicPr preferRelativeResize="0"/>
          <p:nvPr/>
        </p:nvPicPr>
        <p:blipFill>
          <a:blip r:embed="rId3">
            <a:alphaModFix/>
          </a:blip>
          <a:stretch>
            <a:fillRect/>
          </a:stretch>
        </p:blipFill>
        <p:spPr>
          <a:xfrm>
            <a:off x="152400" y="467375"/>
            <a:ext cx="5755399" cy="3667500"/>
          </a:xfrm>
          <a:prstGeom prst="rect">
            <a:avLst/>
          </a:prstGeom>
          <a:noFill/>
          <a:ln>
            <a:noFill/>
          </a:ln>
        </p:spPr>
      </p:pic>
      <p:sp>
        <p:nvSpPr>
          <p:cNvPr id="101" name="Google Shape;101;p19"/>
          <p:cNvSpPr txBox="1"/>
          <p:nvPr/>
        </p:nvSpPr>
        <p:spPr>
          <a:xfrm>
            <a:off x="6541875" y="865000"/>
            <a:ext cx="262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02" name="Google Shape;102;p19"/>
          <p:cNvSpPr txBox="1"/>
          <p:nvPr/>
        </p:nvSpPr>
        <p:spPr>
          <a:xfrm>
            <a:off x="5971650" y="106625"/>
            <a:ext cx="2886000" cy="40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Identifikasi :</a:t>
            </a:r>
            <a:endParaRPr sz="1800">
              <a:solidFill>
                <a:schemeClr val="dk2"/>
              </a:solidFill>
            </a:endParaRPr>
          </a:p>
          <a:p>
            <a:pPr indent="0" lvl="0" marL="0" rtl="0" algn="l">
              <a:spcBef>
                <a:spcPts val="0"/>
              </a:spcBef>
              <a:spcAft>
                <a:spcPts val="0"/>
              </a:spcAft>
              <a:buNone/>
            </a:pPr>
            <a:r>
              <a:rPr lang="en-GB" sz="1800">
                <a:solidFill>
                  <a:schemeClr val="dk2"/>
                </a:solidFill>
              </a:rPr>
              <a:t>Dengan Diaagnosa H25.2</a:t>
            </a:r>
            <a:endParaRPr sz="1800">
              <a:solidFill>
                <a:schemeClr val="dk2"/>
              </a:solidFill>
            </a:endParaRPr>
          </a:p>
          <a:p>
            <a:pPr indent="0" lvl="0" marL="0" rtl="0" algn="l">
              <a:spcBef>
                <a:spcPts val="0"/>
              </a:spcBef>
              <a:spcAft>
                <a:spcPts val="0"/>
              </a:spcAft>
              <a:buNone/>
            </a:pPr>
            <a:r>
              <a:rPr lang="en-GB" sz="1800">
                <a:solidFill>
                  <a:schemeClr val="dk2"/>
                </a:solidFill>
              </a:rPr>
              <a:t>dan tindakan 13.41</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GB" sz="1800">
                <a:solidFill>
                  <a:schemeClr val="dk2"/>
                </a:solidFill>
              </a:rPr>
              <a:t>Kode Diagnosa H25.2 untuk penderita si usia 60 tahun </a:t>
            </a:r>
            <a:endParaRPr sz="1800">
              <a:solidFill>
                <a:schemeClr val="dk2"/>
              </a:solidFill>
            </a:endParaRPr>
          </a:p>
          <a:p>
            <a:pPr indent="-342900" lvl="0" marL="457200" rtl="0" algn="l">
              <a:spcBef>
                <a:spcPts val="0"/>
              </a:spcBef>
              <a:spcAft>
                <a:spcPts val="0"/>
              </a:spcAft>
              <a:buClr>
                <a:schemeClr val="dk2"/>
              </a:buClr>
              <a:buSzPts val="1800"/>
              <a:buChar char="-"/>
            </a:pPr>
            <a:r>
              <a:rPr lang="en-GB" sz="1800">
                <a:solidFill>
                  <a:schemeClr val="dk2"/>
                </a:solidFill>
              </a:rPr>
              <a:t>Kode tindakan Phacoemulsification and aspiration of cataract, kurang lengkap untuk tindakanya</a:t>
            </a:r>
            <a:endParaRPr sz="1800">
              <a:solidFill>
                <a:schemeClr val="dk2"/>
              </a:solidFill>
            </a:endParaRPr>
          </a:p>
          <a:p>
            <a:pPr indent="0" lvl="0" marL="45720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nvSpPr>
        <p:spPr>
          <a:xfrm>
            <a:off x="5785475" y="550800"/>
            <a:ext cx="2804400" cy="343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Untuk kode diagnosa memakai kode H26.0 </a:t>
            </a:r>
            <a:endParaRPr sz="1800">
              <a:solidFill>
                <a:schemeClr val="dk2"/>
              </a:solidFill>
            </a:endParaRPr>
          </a:p>
          <a:p>
            <a:pPr indent="0" lvl="0" marL="0" rtl="0" algn="l">
              <a:spcBef>
                <a:spcPts val="0"/>
              </a:spcBef>
              <a:spcAft>
                <a:spcPts val="0"/>
              </a:spcAft>
              <a:buNone/>
            </a:pPr>
            <a:r>
              <a:rPr lang="en-GB" sz="1800">
                <a:solidFill>
                  <a:schemeClr val="dk2"/>
                </a:solidFill>
              </a:rPr>
              <a:t>Dan juga memakai </a:t>
            </a:r>
            <a:endParaRPr sz="1800">
              <a:solidFill>
                <a:schemeClr val="dk2"/>
              </a:solidFill>
            </a:endParaRPr>
          </a:p>
        </p:txBody>
      </p:sp>
      <p:pic>
        <p:nvPicPr>
          <p:cNvPr id="108" name="Google Shape;108;p20"/>
          <p:cNvPicPr preferRelativeResize="0"/>
          <p:nvPr/>
        </p:nvPicPr>
        <p:blipFill>
          <a:blip r:embed="rId3">
            <a:alphaModFix/>
          </a:blip>
          <a:stretch>
            <a:fillRect/>
          </a:stretch>
        </p:blipFill>
        <p:spPr>
          <a:xfrm>
            <a:off x="152400" y="152400"/>
            <a:ext cx="5480674" cy="4424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nvSpPr>
        <p:spPr>
          <a:xfrm>
            <a:off x="586650" y="96875"/>
            <a:ext cx="7970700" cy="636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GB" sz="2200" u="none" cap="none" strike="noStrike">
                <a:solidFill>
                  <a:schemeClr val="dk1"/>
                </a:solidFill>
                <a:latin typeface="Arial"/>
                <a:ea typeface="Arial"/>
                <a:cs typeface="Arial"/>
                <a:sym typeface="Arial"/>
              </a:rPr>
              <a:t>Lembar Jawaban n</a:t>
            </a:r>
            <a:r>
              <a:rPr b="1" lang="en-GB" sz="2200">
                <a:solidFill>
                  <a:schemeClr val="dk1"/>
                </a:solidFill>
              </a:rPr>
              <a:t>o 5 </a:t>
            </a:r>
            <a:endParaRPr b="1" i="0" sz="2200" u="none" cap="none" strike="noStrike">
              <a:solidFill>
                <a:schemeClr val="dk1"/>
              </a:solidFill>
              <a:latin typeface="Arial"/>
              <a:ea typeface="Arial"/>
              <a:cs typeface="Arial"/>
              <a:sym typeface="Arial"/>
            </a:endParaRPr>
          </a:p>
        </p:txBody>
      </p:sp>
      <p:pic>
        <p:nvPicPr>
          <p:cNvPr id="114" name="Google Shape;114;p21"/>
          <p:cNvPicPr preferRelativeResize="0"/>
          <p:nvPr/>
        </p:nvPicPr>
        <p:blipFill rotWithShape="1">
          <a:blip r:embed="rId3">
            <a:alphaModFix/>
          </a:blip>
          <a:srcRect b="6053" l="0" r="0" t="6854"/>
          <a:stretch/>
        </p:blipFill>
        <p:spPr>
          <a:xfrm>
            <a:off x="507250" y="938400"/>
            <a:ext cx="8400024" cy="35760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2"/>
          <p:cNvPicPr preferRelativeResize="0"/>
          <p:nvPr/>
        </p:nvPicPr>
        <p:blipFill rotWithShape="1">
          <a:blip r:embed="rId3">
            <a:alphaModFix/>
          </a:blip>
          <a:srcRect b="12365" l="0" r="0" t="6182"/>
          <a:stretch/>
        </p:blipFill>
        <p:spPr>
          <a:xfrm>
            <a:off x="152400" y="131875"/>
            <a:ext cx="8602123" cy="3941325"/>
          </a:xfrm>
          <a:prstGeom prst="rect">
            <a:avLst/>
          </a:prstGeom>
          <a:noFill/>
          <a:ln>
            <a:noFill/>
          </a:ln>
        </p:spPr>
      </p:pic>
      <p:sp>
        <p:nvSpPr>
          <p:cNvPr id="120" name="Google Shape;120;p22"/>
          <p:cNvSpPr/>
          <p:nvPr/>
        </p:nvSpPr>
        <p:spPr>
          <a:xfrm>
            <a:off x="152400" y="4271025"/>
            <a:ext cx="8633100" cy="745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Penyelesaian masalah : Pada kasus TB  Error ini dikarenakan kesalahan pengodean berupa kekurangan code also episode dari resisten yang harus diperbaiki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nvSpPr>
        <p:spPr>
          <a:xfrm>
            <a:off x="586650" y="96875"/>
            <a:ext cx="7970700" cy="636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GB" sz="2200" u="none" cap="none" strike="noStrike">
                <a:solidFill>
                  <a:schemeClr val="dk1"/>
                </a:solidFill>
                <a:latin typeface="Arial"/>
                <a:ea typeface="Arial"/>
                <a:cs typeface="Arial"/>
                <a:sym typeface="Arial"/>
              </a:rPr>
              <a:t>Lembar Jawaban n</a:t>
            </a:r>
            <a:r>
              <a:rPr b="1" lang="en-GB" sz="2200">
                <a:solidFill>
                  <a:schemeClr val="dk1"/>
                </a:solidFill>
              </a:rPr>
              <a:t>o 6</a:t>
            </a:r>
            <a:endParaRPr b="1" i="0" sz="2200" u="none" cap="none" strike="noStrike">
              <a:solidFill>
                <a:schemeClr val="dk1"/>
              </a:solidFill>
              <a:latin typeface="Arial"/>
              <a:ea typeface="Arial"/>
              <a:cs typeface="Arial"/>
              <a:sym typeface="Arial"/>
            </a:endParaRPr>
          </a:p>
        </p:txBody>
      </p:sp>
      <p:pic>
        <p:nvPicPr>
          <p:cNvPr id="126" name="Google Shape;126;p23"/>
          <p:cNvPicPr preferRelativeResize="0"/>
          <p:nvPr/>
        </p:nvPicPr>
        <p:blipFill rotWithShape="1">
          <a:blip r:embed="rId3">
            <a:alphaModFix/>
          </a:blip>
          <a:srcRect b="0" l="0" r="0" t="15483"/>
          <a:stretch/>
        </p:blipFill>
        <p:spPr>
          <a:xfrm>
            <a:off x="799125" y="732875"/>
            <a:ext cx="7683149" cy="3778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4"/>
          <p:cNvPicPr preferRelativeResize="0"/>
          <p:nvPr/>
        </p:nvPicPr>
        <p:blipFill rotWithShape="1">
          <a:blip r:embed="rId3">
            <a:alphaModFix/>
          </a:blip>
          <a:srcRect b="0" l="0" r="0" t="16121"/>
          <a:stretch/>
        </p:blipFill>
        <p:spPr>
          <a:xfrm>
            <a:off x="152400" y="932450"/>
            <a:ext cx="8606326" cy="4058650"/>
          </a:xfrm>
          <a:prstGeom prst="rect">
            <a:avLst/>
          </a:prstGeom>
          <a:noFill/>
          <a:ln>
            <a:noFill/>
          </a:ln>
        </p:spPr>
      </p:pic>
      <p:sp>
        <p:nvSpPr>
          <p:cNvPr id="132" name="Google Shape;132;p24"/>
          <p:cNvSpPr/>
          <p:nvPr/>
        </p:nvSpPr>
        <p:spPr>
          <a:xfrm>
            <a:off x="631650" y="210550"/>
            <a:ext cx="7925700" cy="60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Jawaban no 6,setelah dilakukan grupping ada ungroupable,kemudian diganti kode prosedur diganti 00450,karena PTCA yang dilakukan dengan satu balon.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nvSpPr>
        <p:spPr>
          <a:xfrm>
            <a:off x="586650" y="96875"/>
            <a:ext cx="7970700" cy="636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GB" sz="2200" u="none" cap="none" strike="noStrike">
                <a:solidFill>
                  <a:schemeClr val="dk1"/>
                </a:solidFill>
                <a:latin typeface="Arial"/>
                <a:ea typeface="Arial"/>
                <a:cs typeface="Arial"/>
                <a:sym typeface="Arial"/>
              </a:rPr>
              <a:t>Lembar Jawaban no</a:t>
            </a:r>
            <a:endParaRPr b="1" i="0" sz="22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