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Quattrocento Sans"/>
      <p:regular r:id="rId17"/>
      <p:bold r:id="rId18"/>
      <p:italic r:id="rId19"/>
      <p:boldItalic r:id="rId20"/>
    </p:embeddedFont>
    <p:embeddedFont>
      <p:font typeface="Century Gothic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22" Type="http://schemas.openxmlformats.org/officeDocument/2006/relationships/font" Target="fonts/CenturyGothic-bold.fntdata"/><Relationship Id="rId10" Type="http://schemas.openxmlformats.org/officeDocument/2006/relationships/slide" Target="slides/slide5.xml"/><Relationship Id="rId21" Type="http://schemas.openxmlformats.org/officeDocument/2006/relationships/font" Target="fonts/CenturyGothic-regular.fntdata"/><Relationship Id="rId13" Type="http://schemas.openxmlformats.org/officeDocument/2006/relationships/font" Target="fonts/Nunito-regular.fntdata"/><Relationship Id="rId24" Type="http://schemas.openxmlformats.org/officeDocument/2006/relationships/font" Target="fonts/CenturyGothic-boldItalic.fntdata"/><Relationship Id="rId12" Type="http://schemas.openxmlformats.org/officeDocument/2006/relationships/slide" Target="slides/slide7.xml"/><Relationship Id="rId23" Type="http://schemas.openxmlformats.org/officeDocument/2006/relationships/font" Target="fonts/CenturyGothic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QuattrocentoSans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11cde88d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11cde88d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11cde88d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11cde88d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911cde88d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911cde88d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11cde88d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11cde88d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9" name="Google Shape;29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31" name="Google Shape;31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0" y="380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6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27400" y="1102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Penugasan MPI 5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Data Klaim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24-29 November 2025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938375" y="3003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61025"/>
            <a:ext cx="85206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GB"/>
              <a:t>Jawaban No.1</a:t>
            </a:r>
            <a:endParaRPr/>
          </a:p>
        </p:txBody>
      </p:sp>
      <p:sp>
        <p:nvSpPr>
          <p:cNvPr id="86" name="Google Shape;86;p17"/>
          <p:cNvSpPr txBox="1"/>
          <p:nvPr/>
        </p:nvSpPr>
        <p:spPr>
          <a:xfrm>
            <a:off x="0" y="105755950"/>
            <a:ext cx="3000000" cy="215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7300" y="946850"/>
            <a:ext cx="4276725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246325" y="643925"/>
            <a:ext cx="3304800" cy="4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Kelas Rawat Inap dengan Diagram Lingkaran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Kelas Rawat Inap dengan Kelas 3 Lebih banyak sebesar 55,6%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Kelas 1 Sebanyak 28%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Kelas 2 Sebanyak 16.3 %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Frekuensi per MDC Rawat Inap dengan Diagram Batang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000" y="1597475"/>
            <a:ext cx="50673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/>
          <p:nvPr/>
        </p:nvSpPr>
        <p:spPr>
          <a:xfrm>
            <a:off x="513950" y="1819225"/>
            <a:ext cx="3130200" cy="316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MDC terbanyak ada di MDC 24 dan MDC terendah ada pada MDC 22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3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 Kode IDRG Rawat Inap dengan jumlah kasus terbanyak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2900" y="1546000"/>
            <a:ext cx="4780800" cy="347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10 Dokter DPJP Rawat Inap dengan jumlah kasus terbanyak</a:t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126" y="1868925"/>
            <a:ext cx="5199175" cy="278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Audit Koding kasus TB Paru dengan BTA+ (A15.0) dengan Pneumonia (J18.0-J18.9)</a:t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525" y="1798775"/>
            <a:ext cx="8143775" cy="334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