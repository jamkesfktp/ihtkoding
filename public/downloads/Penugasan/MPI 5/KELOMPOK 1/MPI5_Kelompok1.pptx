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  <p:embeddedFont>
      <p:font typeface="Quattrocento Sans"/>
      <p:regular r:id="rId18"/>
      <p:bold r:id="rId19"/>
      <p:italic r:id="rId20"/>
      <p:boldItalic r:id="rId21"/>
    </p:embeddedFont>
    <p:embeddedFont>
      <p:font typeface="Century Gothic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italic.fntdata"/><Relationship Id="rId22" Type="http://schemas.openxmlformats.org/officeDocument/2006/relationships/font" Target="fonts/CenturyGothic-regular.fntdata"/><Relationship Id="rId21" Type="http://schemas.openxmlformats.org/officeDocument/2006/relationships/font" Target="fonts/QuattrocentoSans-boldItalic.fntdata"/><Relationship Id="rId24" Type="http://schemas.openxmlformats.org/officeDocument/2006/relationships/font" Target="fonts/CenturyGothic-italic.fntdata"/><Relationship Id="rId23" Type="http://schemas.openxmlformats.org/officeDocument/2006/relationships/font" Target="fonts/CenturyGothic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CenturyGothic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19" Type="http://schemas.openxmlformats.org/officeDocument/2006/relationships/font" Target="fonts/QuattrocentoSans-bold.fntdata"/><Relationship Id="rId18" Type="http://schemas.openxmlformats.org/officeDocument/2006/relationships/font" Target="fonts/Quattrocento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9" name="Google Shape;6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a95a764b3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a95a764b3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a95a764b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a95a764b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a95a764b3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a95a764b3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95a764b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95a764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95a764b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95a764b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a95a764b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a95a764b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091329"/>
            <a:ext cx="9144000" cy="2052300"/>
          </a:xfrm>
          <a:prstGeom prst="rect">
            <a:avLst/>
          </a:prstGeom>
          <a:solidFill>
            <a:srgbClr val="01737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" y="3086792"/>
            <a:ext cx="9094642" cy="409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12" name="Google Shape;1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9947" y="456940"/>
            <a:ext cx="1914750" cy="444345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3650852"/>
            <a:ext cx="6858000" cy="7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type="title"/>
          </p:nvPr>
        </p:nvSpPr>
        <p:spPr>
          <a:xfrm>
            <a:off x="628650" y="1373906"/>
            <a:ext cx="78867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6AA"/>
              </a:buClr>
              <a:buSzPts val="2400"/>
              <a:buFont typeface="Arial"/>
              <a:buNone/>
              <a:defRPr b="1" i="0" sz="2400" u="none" cap="none" strike="noStrike">
                <a:solidFill>
                  <a:srgbClr val="00B6A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sp>
        <p:nvSpPr>
          <p:cNvPr id="15" name="Google Shape;15;p2"/>
          <p:cNvSpPr txBox="1"/>
          <p:nvPr>
            <p:ph idx="2" type="body"/>
          </p:nvPr>
        </p:nvSpPr>
        <p:spPr>
          <a:xfrm>
            <a:off x="2043709" y="4508772"/>
            <a:ext cx="5056800" cy="4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3" type="body"/>
          </p:nvPr>
        </p:nvSpPr>
        <p:spPr>
          <a:xfrm>
            <a:off x="3619148" y="2381804"/>
            <a:ext cx="19059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853604" y="4714509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674458" y="573053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719577" y="4810624"/>
            <a:ext cx="3210000" cy="1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674458" y="211319"/>
            <a:ext cx="7700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9AD"/>
              </a:buClr>
              <a:buSzPts val="1900"/>
              <a:buFont typeface="Century Gothic"/>
              <a:buNone/>
              <a:defRPr b="1" i="0" sz="1900" u="none" cap="none" strike="noStrike">
                <a:solidFill>
                  <a:srgbClr val="00B9AD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9pPr>
          </a:lstStyle>
          <a:p/>
        </p:txBody>
      </p:sp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>
            <a:off x="8514940" y="-3152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29" name="Google Shape;29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-5400000">
            <a:off x="-1531" y="2449"/>
            <a:ext cx="639381" cy="638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text on a black background&#10;&#10;Description automatically generated" id="30" name="Google Shape;3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570" y="4653266"/>
            <a:ext cx="1576513" cy="3493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ue and yellow squares on a black background&#10;&#10;Description automatically generated" id="31" name="Google Shape;31;p5"/>
          <p:cNvPicPr preferRelativeResize="0"/>
          <p:nvPr/>
        </p:nvPicPr>
        <p:blipFill rotWithShape="1">
          <a:blip r:embed="rId2">
            <a:alphaModFix/>
          </a:blip>
          <a:srcRect b="-416" l="0" r="49469" t="49906"/>
          <a:stretch/>
        </p:blipFill>
        <p:spPr>
          <a:xfrm rot="10800000">
            <a:off x="-1729" y="4507839"/>
            <a:ext cx="639381" cy="6389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/>
        </p:nvSpPr>
        <p:spPr>
          <a:xfrm>
            <a:off x="0" y="380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KELOMPOK 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427400" y="1102650"/>
            <a:ext cx="8223900" cy="244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Penugasan MPI 5</a:t>
            </a:r>
            <a:endParaRPr b="1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GB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Analisis Data Klaim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t/>
            </a:r>
            <a:endParaRPr b="0" i="0" sz="3800" u="none" cap="none" strike="noStrike">
              <a:solidFill>
                <a:srgbClr val="AF7B5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1143000" y="3650850"/>
            <a:ext cx="6858000" cy="14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 sz="1600">
                <a:latin typeface="Century Gothic"/>
                <a:ea typeface="Century Gothic"/>
                <a:cs typeface="Century Gothic"/>
                <a:sym typeface="Century Gothic"/>
              </a:rPr>
              <a:t>Disampaikan pada Pelatihan Pengkodean Diagnosis Penyakit dan Tindakan Bagi Tenaga Koder di FPKTL dalam Program JKN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1" sz="16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latin typeface="Century Gothic"/>
                <a:ea typeface="Century Gothic"/>
                <a:cs typeface="Century Gothic"/>
                <a:sym typeface="Century Gothic"/>
              </a:rPr>
              <a:t>Gelombang III</a:t>
            </a:r>
            <a:endParaRPr b="1" sz="18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24-29</a:t>
            </a:r>
            <a:r>
              <a:rPr b="1" lang="en-GB" sz="16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 November 2025</a:t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5938375" y="3003"/>
            <a:ext cx="320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GB" sz="42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AKT </a:t>
            </a:r>
            <a:r>
              <a:rPr b="1" lang="en-GB" sz="4200">
                <a:highlight>
                  <a:srgbClr val="00FF00"/>
                </a:highlight>
                <a:latin typeface="Calibri"/>
                <a:ea typeface="Calibri"/>
                <a:cs typeface="Calibri"/>
                <a:sym typeface="Calibri"/>
              </a:rPr>
              <a:t>21</a:t>
            </a:r>
            <a:endParaRPr b="1" i="0" sz="4200" u="none" cap="none" strike="noStrike">
              <a:solidFill>
                <a:srgbClr val="000000"/>
              </a:solidFill>
              <a:highlight>
                <a:srgbClr val="00FF0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4300" y="1723450"/>
            <a:ext cx="6107225" cy="34200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912925" y="324275"/>
            <a:ext cx="75945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Selamat Mengerjakan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GB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Semangaat….</a:t>
            </a:r>
            <a:endParaRPr b="1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189650" y="147075"/>
            <a:ext cx="668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Jawaban No 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825" y="608775"/>
            <a:ext cx="3043525" cy="3503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3475450" y="0"/>
            <a:ext cx="5294400" cy="55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1. Kelas 3 – 62.3% (Mayoritas Pasien) </a:t>
            </a:r>
            <a:r>
              <a:rPr lang="en-GB" sz="1100">
                <a:solidFill>
                  <a:schemeClr val="dk1"/>
                </a:solidFill>
              </a:rPr>
              <a:t>Menjadi </a:t>
            </a:r>
            <a:r>
              <a:rPr b="1" lang="en-GB" sz="1100">
                <a:solidFill>
                  <a:schemeClr val="dk1"/>
                </a:solidFill>
              </a:rPr>
              <a:t>kelas dengan penggunaan tertinggi</a:t>
            </a:r>
            <a:r>
              <a:rPr lang="en-GB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Menunjukkan bahwa sebagian besar pasien memilih atau ditempatkan di </a:t>
            </a:r>
            <a:r>
              <a:rPr b="1" lang="en-GB" sz="1100">
                <a:solidFill>
                  <a:schemeClr val="dk1"/>
                </a:solidFill>
              </a:rPr>
              <a:t>kelas 3</a:t>
            </a:r>
            <a:r>
              <a:rPr lang="en-GB" sz="1100">
                <a:solidFill>
                  <a:schemeClr val="dk1"/>
                </a:solidFill>
              </a:rPr>
              <a:t>, kemungkinan karena: ketersediaan tempat tidur lebih banyak,Biaya lebih terjangkau,Kebutuhan layanan mendasar yang cukup dipenuhi. </a:t>
            </a:r>
            <a:r>
              <a:rPr b="1" lang="en-GB" sz="1100">
                <a:solidFill>
                  <a:schemeClr val="dk1"/>
                </a:solidFill>
              </a:rPr>
              <a:t>Implikasi:</a:t>
            </a:r>
            <a:r>
              <a:rPr lang="en-GB" sz="1100">
                <a:solidFill>
                  <a:schemeClr val="dk1"/>
                </a:solidFill>
              </a:rPr>
              <a:t> Beban layanan dan kebutuhan SDM terbesar berada di kelas 3.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Perlu memastikan kualitas pelayanan tetap baik meskipun volume pasien tinggi.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2. Kelas 1 – 23.8% </a:t>
            </a:r>
            <a:r>
              <a:rPr lang="en-GB" sz="1100">
                <a:solidFill>
                  <a:schemeClr val="dk1"/>
                </a:solidFill>
              </a:rPr>
              <a:t>Menempati urutan kedua dalam penggunaan rawat inap.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Persentase ini cukup signifikan, menunjukkan bahwa ada permintaan cukup besar terhadap fasilitas dengan layanan lebih tinggi (kenyamanan/privasi). </a:t>
            </a:r>
            <a:r>
              <a:rPr b="1" lang="en-GB" sz="1100">
                <a:solidFill>
                  <a:schemeClr val="dk1"/>
                </a:solidFill>
              </a:rPr>
              <a:t>Implikasi:</a:t>
            </a:r>
            <a:r>
              <a:rPr lang="en-GB" sz="1100">
                <a:solidFill>
                  <a:schemeClr val="dk1"/>
                </a:solidFill>
              </a:rPr>
              <a:t>Pengelolaan kamar kelas 1 harus tetap optimal untuk mengakomodasi permintaan stabil.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3. Kelas 2 – 13.8% (Paling Rendah) </a:t>
            </a:r>
            <a:r>
              <a:rPr lang="en-GB" sz="1100">
                <a:solidFill>
                  <a:schemeClr val="dk1"/>
                </a:solidFill>
              </a:rPr>
              <a:t>Memiliki proporsi pasien paling sedikit.Kemungkinan disebabkan: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Pasien lebih memilih langsung kelas 3 (lebih murah) atau kelas 1 (lebih nyaman).Ketersediaan kamar kelas 2 lebih sedikit.Pola preferensi pasien dan sistem pembiayaan (BPJS lebih banyak di kelas 3).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Implikasi:</a:t>
            </a:r>
            <a:r>
              <a:rPr lang="en-GB" sz="1100">
                <a:solidFill>
                  <a:schemeClr val="dk1"/>
                </a:solidFill>
              </a:rPr>
              <a:t>Perlu evaluasi apakah kapasitas kelas 2 sudah sesuai dengan kebutuhan sebenarnya.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Jika tingkat penggunaan rendah, dapat dipertimbangkan optimalisasi ruang.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2 (MDC Rawat Inap)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494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830575"/>
            <a:ext cx="57679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5452975" y="1186850"/>
            <a:ext cx="3416700" cy="36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Dominasi Infeksi (MDC 18):</a:t>
            </a:r>
            <a:r>
              <a:rPr lang="en-GB" sz="1000">
                <a:solidFill>
                  <a:schemeClr val="dk1"/>
                </a:solidFill>
              </a:rPr>
              <a:t> </a:t>
            </a:r>
            <a:r>
              <a:rPr b="1" lang="en-GB" sz="1000">
                <a:solidFill>
                  <a:schemeClr val="dk1"/>
                </a:solidFill>
              </a:rPr>
              <a:t>MDC 18</a:t>
            </a:r>
            <a:r>
              <a:rPr lang="en-GB" sz="1000">
                <a:solidFill>
                  <a:schemeClr val="dk1"/>
                </a:solidFill>
              </a:rPr>
              <a:t> (Infeksi Sistemik) memiliki jumlah kasus terbanyak Ini menunjukkan bahwa kasus-kasus yang paling sering dicatat berhubungan dengan </a:t>
            </a:r>
            <a:r>
              <a:rPr b="1" lang="en-GB" sz="1000">
                <a:solidFill>
                  <a:schemeClr val="dk1"/>
                </a:solidFill>
              </a:rPr>
              <a:t>infeksi atau penyakit menular</a:t>
            </a:r>
            <a:r>
              <a:rPr lang="en-GB" sz="1000">
                <a:solidFill>
                  <a:schemeClr val="dk1"/>
                </a:solidFill>
              </a:rPr>
              <a:t> yang bersifat sistemik dan memerlukan rawat inap.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000">
                <a:solidFill>
                  <a:schemeClr val="dk1"/>
                </a:solidFill>
              </a:rPr>
              <a:t>Kesehatan Ibu dan Anak (MDC 15 &amp; 24):</a:t>
            </a:r>
            <a:r>
              <a:rPr lang="en-GB" sz="1000">
                <a:solidFill>
                  <a:schemeClr val="dk1"/>
                </a:solidFill>
              </a:rPr>
              <a:t> Jumlah catatan untuk </a:t>
            </a:r>
            <a:r>
              <a:rPr b="1" lang="en-GB" sz="1000">
                <a:solidFill>
                  <a:schemeClr val="dk1"/>
                </a:solidFill>
              </a:rPr>
              <a:t>MDC 24</a:t>
            </a:r>
            <a:r>
              <a:rPr lang="en-GB" sz="1000">
                <a:solidFill>
                  <a:schemeClr val="dk1"/>
                </a:solidFill>
              </a:rPr>
              <a:t> (Kehamilan, Persalinan, Nifas) dan </a:t>
            </a:r>
            <a:r>
              <a:rPr b="1" lang="en-GB" sz="1000">
                <a:solidFill>
                  <a:schemeClr val="dk1"/>
                </a:solidFill>
              </a:rPr>
              <a:t>MDC 15</a:t>
            </a:r>
            <a:r>
              <a:rPr lang="en-GB" sz="1000">
                <a:solidFill>
                  <a:schemeClr val="dk1"/>
                </a:solidFill>
              </a:rPr>
              <a:t> (Bayi Baru Lahir) berada di urutan teratas. Ini mengindikasikan bahwa layanan kesehatan ibu dan anak, terutama persalinan, merupakan </a:t>
            </a:r>
            <a:r>
              <a:rPr b="1" lang="en-GB" sz="1000">
                <a:solidFill>
                  <a:schemeClr val="dk1"/>
                </a:solidFill>
              </a:rPr>
              <a:t>aktivitas koding yang sangat sering</a:t>
            </a:r>
            <a:r>
              <a:rPr lang="en-GB" sz="1000">
                <a:solidFill>
                  <a:schemeClr val="dk1"/>
                </a:solidFill>
              </a:rPr>
              <a:t> atau memiliki volume pasien yang tinggi. </a:t>
            </a:r>
            <a:r>
              <a:rPr b="1" lang="en-GB" sz="1000">
                <a:solidFill>
                  <a:schemeClr val="dk1"/>
                </a:solidFill>
              </a:rPr>
              <a:t>Kasus Urologi/Reproduksi (MDC 34, 11, 16, 28):</a:t>
            </a:r>
            <a:r>
              <a:rPr lang="en-GB" sz="1000">
                <a:solidFill>
                  <a:schemeClr val="dk1"/>
                </a:solidFill>
              </a:rPr>
              <a:t> Terdapat beberapa MDC terkait sistem genitourinaria dan reproduksi yang menonjol (MDC 34, 11, 16, 28), yang menunjukkan volume kasus yang signifikan di area </a:t>
            </a:r>
            <a:r>
              <a:rPr b="1" lang="en-GB" sz="1000">
                <a:solidFill>
                  <a:schemeClr val="dk1"/>
                </a:solidFill>
              </a:rPr>
              <a:t>urologi, ginjal, dan ginekologi/andrologi</a:t>
            </a:r>
            <a:r>
              <a:rPr lang="en-GB" sz="1000">
                <a:solidFill>
                  <a:schemeClr val="dk1"/>
                </a:solidFill>
              </a:rPr>
              <a:t>. </a:t>
            </a:r>
            <a:r>
              <a:rPr b="1" lang="en-GB" sz="1000">
                <a:solidFill>
                  <a:schemeClr val="dk1"/>
                </a:solidFill>
              </a:rPr>
              <a:t>Cedera dan Trauma (MDC 21):</a:t>
            </a:r>
            <a:r>
              <a:rPr lang="en-GB" sz="1000">
                <a:solidFill>
                  <a:schemeClr val="dk1"/>
                </a:solidFill>
              </a:rPr>
              <a:t> </a:t>
            </a:r>
            <a:r>
              <a:rPr b="1" lang="en-GB" sz="1000">
                <a:solidFill>
                  <a:schemeClr val="dk1"/>
                </a:solidFill>
              </a:rPr>
              <a:t>MDC 21</a:t>
            </a:r>
            <a:r>
              <a:rPr lang="en-GB" sz="1000">
                <a:solidFill>
                  <a:schemeClr val="dk1"/>
                </a:solidFill>
              </a:rPr>
              <a:t> (Cedera/Keracunan) juga berada di urutan atas, menunjukkan bahwa kasus trauma, kecelakaan, atau efek keracunan cukup banyak dicatat.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0"/>
            <a:ext cx="8520600" cy="3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3</a:t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25" y="688525"/>
            <a:ext cx="3957551" cy="401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4849500" y="0"/>
            <a:ext cx="42945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4208875" y="244475"/>
            <a:ext cx="4396200" cy="53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Berdasarkan data 11 kasus ini, dapat disimpulkan bahwa secara umum </a:t>
            </a:r>
            <a:r>
              <a:rPr b="1" lang="en-GB" sz="900">
                <a:solidFill>
                  <a:schemeClr val="dk1"/>
                </a:solidFill>
              </a:rPr>
              <a:t>pelayanan DPJP yang terkait dengan kasus-kasus ini menunjukkan kinerja yang efisien</a:t>
            </a:r>
            <a:r>
              <a:rPr lang="en-GB" sz="900">
                <a:solidFill>
                  <a:schemeClr val="dk1"/>
                </a:solidFill>
              </a:rPr>
              <a:t> dalam konteks finansial (Selisih Positif):</a:t>
            </a:r>
            <a:endParaRPr sz="9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1.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GB" sz="900">
                <a:solidFill>
                  <a:schemeClr val="dk1"/>
                </a:solidFill>
              </a:rPr>
              <a:t>DPJP Berhasil Mengelola Biaya (Efisiensi):</a:t>
            </a:r>
            <a:r>
              <a:rPr lang="en-GB" sz="900">
                <a:solidFill>
                  <a:schemeClr val="dk1"/>
                </a:solidFill>
              </a:rPr>
              <a:t> Biaya riil yang dikeluarkan RS selalu jauh lebih rendah daripada tarif paket INA-CBG. Hal ini menunjukkan DPJP di kasus-kasus ini mampu memberikan pelayanan yang efektif dan sesuai standar </a:t>
            </a:r>
            <a:r>
              <a:rPr b="1" lang="en-GB" sz="900">
                <a:solidFill>
                  <a:schemeClr val="dk1"/>
                </a:solidFill>
              </a:rPr>
              <a:t>tanpa pemakaian sumber daya berlebihan</a:t>
            </a:r>
            <a:r>
              <a:rPr lang="en-GB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2.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GB" sz="900">
                <a:solidFill>
                  <a:schemeClr val="dk1"/>
                </a:solidFill>
              </a:rPr>
              <a:t>Koding Akurat/Optimal:</a:t>
            </a:r>
            <a:r>
              <a:rPr lang="en-GB" sz="900">
                <a:solidFill>
                  <a:schemeClr val="dk1"/>
                </a:solidFill>
              </a:rPr>
              <a:t> DPJP kemungkinan besar telah mendokumentasikan semua kondisi pasien secara lengkap, yang memungkinkan koder mendapatkan kode DRG dengan tarif paket yang </a:t>
            </a:r>
            <a:r>
              <a:rPr b="1" lang="en-GB" sz="900">
                <a:solidFill>
                  <a:schemeClr val="dk1"/>
                </a:solidFill>
              </a:rPr>
              <a:t>optimal/tinggi</a:t>
            </a:r>
            <a:r>
              <a:rPr lang="en-GB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Kasus Paling Kritis (Perlu Audit DPJP)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</a:rPr>
              <a:t>Meskipun semua selisih positif, perhatian harus diberikan pada kasus dengan </a:t>
            </a:r>
            <a:r>
              <a:rPr b="1" lang="en-GB" sz="900">
                <a:solidFill>
                  <a:schemeClr val="dk1"/>
                </a:solidFill>
              </a:rPr>
              <a:t>Persentase Selisih Tertinggi</a:t>
            </a:r>
            <a:r>
              <a:rPr lang="en-GB" sz="900">
                <a:solidFill>
                  <a:schemeClr val="dk1"/>
                </a:solidFill>
              </a:rPr>
              <a:t>, karena menunjukkan </a:t>
            </a:r>
            <a:r>
              <a:rPr i="1" lang="en-GB" sz="900">
                <a:solidFill>
                  <a:schemeClr val="dk1"/>
                </a:solidFill>
              </a:rPr>
              <a:t>gap</a:t>
            </a:r>
            <a:r>
              <a:rPr lang="en-GB" sz="900">
                <a:solidFill>
                  <a:schemeClr val="dk1"/>
                </a:solidFill>
              </a:rPr>
              <a:t> terbesar antara biaya klaim dan biaya riil, yang bisa mengindikasikan efisiensi sangat tinggi atau potensi </a:t>
            </a:r>
            <a:r>
              <a:rPr i="1" lang="en-GB" sz="900">
                <a:solidFill>
                  <a:schemeClr val="dk1"/>
                </a:solidFill>
              </a:rPr>
              <a:t>over-coding</a:t>
            </a:r>
            <a:r>
              <a:rPr lang="en-GB" sz="900">
                <a:solidFill>
                  <a:schemeClr val="dk1"/>
                </a:solidFill>
              </a:rPr>
              <a:t>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</a:rPr>
              <a:t> Rekomendasi Tindak Lanjut untuk DPJP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Untuk memastikan keberlanjutan selisih positif ini dan menjaga kualitas, manajemen harus:</a:t>
            </a:r>
            <a:endParaRPr sz="9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1.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GB" sz="900">
                <a:solidFill>
                  <a:schemeClr val="dk1"/>
                </a:solidFill>
              </a:rPr>
              <a:t>Memberikan </a:t>
            </a:r>
            <a:r>
              <a:rPr b="1" i="1" lang="en-GB" sz="900">
                <a:solidFill>
                  <a:schemeClr val="dk1"/>
                </a:solidFill>
              </a:rPr>
              <a:t>Feedback</a:t>
            </a:r>
            <a:r>
              <a:rPr b="1" lang="en-GB" sz="900">
                <a:solidFill>
                  <a:schemeClr val="dk1"/>
                </a:solidFill>
              </a:rPr>
              <a:t> Positif:</a:t>
            </a:r>
            <a:r>
              <a:rPr lang="en-GB" sz="900">
                <a:solidFill>
                  <a:schemeClr val="dk1"/>
                </a:solidFill>
              </a:rPr>
              <a:t> Memberikan penghargaan kepada DPJP yang terkait dengan klaim-klaim efisien ini.</a:t>
            </a:r>
            <a:endParaRPr sz="9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2.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GB" sz="900">
                <a:solidFill>
                  <a:schemeClr val="dk1"/>
                </a:solidFill>
              </a:rPr>
              <a:t>Melakukan Audit Dokumentasi:</a:t>
            </a:r>
            <a:r>
              <a:rPr lang="en-GB" sz="900">
                <a:solidFill>
                  <a:schemeClr val="dk1"/>
                </a:solidFill>
              </a:rPr>
              <a:t> Mengaudit rekam medis dari kasus-kasus dengan selisih terbesar untuk memverifikasi apakah kelengkapan dokumentasi (diagnosis sekunder/prosedur) benar-benar memadai dan mendukung tingginya tarif INA-CBG yang didapatkan.</a:t>
            </a:r>
            <a:endParaRPr sz="900">
              <a:solidFill>
                <a:schemeClr val="dk1"/>
              </a:solidFill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</a:rPr>
              <a:t>3.</a:t>
            </a:r>
            <a:r>
              <a:rPr lang="en-GB" sz="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r>
              <a:rPr b="1" lang="en-GB" sz="900">
                <a:solidFill>
                  <a:schemeClr val="dk1"/>
                </a:solidFill>
              </a:rPr>
              <a:t>Membandingkan Clinical Pathway:</a:t>
            </a:r>
            <a:r>
              <a:rPr lang="en-GB" sz="900">
                <a:solidFill>
                  <a:schemeClr val="dk1"/>
                </a:solidFill>
              </a:rPr>
              <a:t> Menggunakan data ini untuk membandingkan praktik DPJP efisien ini dengan DPJP lain yang mungkin menghasilkan selisih negatif untuk kasus DRG yang sama.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4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100" y="1114425"/>
            <a:ext cx="7647450" cy="356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Analisis klaim berdasarkan 10 dokter dpjp rawat inap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Ortopedi B menempati puncak dengan </a:t>
            </a:r>
            <a:r>
              <a:rPr b="1" lang="en-GB" sz="1100">
                <a:solidFill>
                  <a:schemeClr val="dk1"/>
                </a:solidFill>
              </a:rPr>
              <a:t>16 kasus</a:t>
            </a:r>
            <a:r>
              <a:rPr lang="en-GB" sz="1100">
                <a:solidFill>
                  <a:schemeClr val="dk1"/>
                </a:solidFill>
              </a:rPr>
              <a:t>, mengindikasikan: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Tingginya volume pasien trauma/muskuloskeletal.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Kemungkinan banyak tindakan operatif yang memicu klaim.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Sp. Syaraf, Onkologi, dan Urologi sama-sama memiliki </a:t>
            </a:r>
            <a:r>
              <a:rPr b="1" lang="en-GB" sz="1100">
                <a:solidFill>
                  <a:schemeClr val="dk1"/>
                </a:solidFill>
              </a:rPr>
              <a:t>14 kasus</a:t>
            </a:r>
            <a:r>
              <a:rPr lang="en-GB" sz="1100">
                <a:solidFill>
                  <a:schemeClr val="dk1"/>
                </a:solidFill>
              </a:rPr>
              <a:t>, yang menunjukkan: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Ada </a:t>
            </a:r>
            <a:r>
              <a:rPr i="1" lang="en-GB" sz="1100">
                <a:solidFill>
                  <a:schemeClr val="dk1"/>
                </a:solidFill>
              </a:rPr>
              <a:t>cluster</a:t>
            </a:r>
            <a:r>
              <a:rPr lang="en-GB" sz="1100">
                <a:solidFill>
                  <a:schemeClr val="dk1"/>
                </a:solidFill>
              </a:rPr>
              <a:t> volume klaim yang tinggi pada kasus neurologi, kanker, dan genitourinaria.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Bisa berkaitan dengan meningkatnya pasien kronis atau rujukan dari layanan primer.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Sp. Dalam, Obgyn B, dan Hepatologi memiliki </a:t>
            </a:r>
            <a:r>
              <a:rPr b="1" lang="en-GB" sz="1100">
                <a:solidFill>
                  <a:schemeClr val="dk1"/>
                </a:solidFill>
              </a:rPr>
              <a:t>12 kasus</a:t>
            </a:r>
            <a:r>
              <a:rPr lang="en-GB" sz="1100">
                <a:solidFill>
                  <a:schemeClr val="dk1"/>
                </a:solidFill>
              </a:rPr>
              <a:t>, masih tergolong tinggi.</a:t>
            </a:r>
            <a:br>
              <a:rPr lang="en-GB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Sp. Obgyn A dan Jantung B dengan </a:t>
            </a:r>
            <a:r>
              <a:rPr b="1" lang="en-GB" sz="1100">
                <a:solidFill>
                  <a:schemeClr val="dk1"/>
                </a:solidFill>
              </a:rPr>
              <a:t>11 kasus</a:t>
            </a:r>
            <a:r>
              <a:rPr lang="en-GB" sz="1100">
                <a:solidFill>
                  <a:schemeClr val="dk1"/>
                </a:solidFill>
              </a:rPr>
              <a:t>, menunjukkan persebaran klaim yang stabil namun signifikan.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Jawaban no 5</a:t>
            </a: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825" y="620300"/>
            <a:ext cx="8839201" cy="2414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2"/>
          <p:cNvSpPr txBox="1"/>
          <p:nvPr/>
        </p:nvSpPr>
        <p:spPr>
          <a:xfrm>
            <a:off x="766175" y="3264800"/>
            <a:ext cx="3998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Tarif RS (biaya rumah sakit)</a:t>
            </a:r>
            <a:r>
              <a:rPr lang="en-GB" sz="1100">
                <a:solidFill>
                  <a:schemeClr val="dk1"/>
                </a:solidFill>
              </a:rPr>
              <a:t>: Rp </a:t>
            </a:r>
            <a:r>
              <a:rPr b="1" lang="en-GB" sz="1100">
                <a:solidFill>
                  <a:schemeClr val="dk1"/>
                </a:solidFill>
              </a:rPr>
              <a:t>3.322.076</a:t>
            </a:r>
            <a:br>
              <a:rPr b="1" lang="en-GB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Tarif Klaim (yang dibayarkan/diklaim)</a:t>
            </a:r>
            <a:r>
              <a:rPr lang="en-GB" sz="1100">
                <a:solidFill>
                  <a:schemeClr val="dk1"/>
                </a:solidFill>
              </a:rPr>
              <a:t>: Rp </a:t>
            </a:r>
            <a:r>
              <a:rPr b="1" lang="en-GB" sz="1100">
                <a:solidFill>
                  <a:schemeClr val="dk1"/>
                </a:solidFill>
              </a:rPr>
              <a:t>2.905.300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796325" y="3434150"/>
            <a:ext cx="5434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Klaim lebih rendah</a:t>
            </a:r>
            <a:r>
              <a:rPr lang="en-GB" sz="1100">
                <a:solidFill>
                  <a:schemeClr val="dk1"/>
                </a:solidFill>
              </a:rPr>
              <a:t> dibanding tarif RS → berarti ada </a:t>
            </a:r>
            <a:r>
              <a:rPr b="1" lang="en-GB" sz="1100">
                <a:solidFill>
                  <a:schemeClr val="dk1"/>
                </a:solidFill>
              </a:rPr>
              <a:t>selisih biaya</a:t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796325" y="3706850"/>
            <a:ext cx="5672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✅ analisa penyebab selisih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✅ rekomendasi tindakan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/>
              <a:t>✅ analisa sesuai kode INA-CBG’s (sebutkan kodenya)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