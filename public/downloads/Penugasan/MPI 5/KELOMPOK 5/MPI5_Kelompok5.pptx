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  <p:embeddedFont>
      <p:font typeface="Quattrocento Sans"/>
      <p:regular r:id="rId17"/>
      <p:bold r:id="rId18"/>
      <p:italic r:id="rId19"/>
      <p:boldItalic r:id="rId20"/>
    </p:embeddedFont>
    <p:embeddedFont>
      <p:font typeface="Century Gothic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boldItalic.fntdata"/><Relationship Id="rId11" Type="http://schemas.openxmlformats.org/officeDocument/2006/relationships/slide" Target="slides/slide6.xml"/><Relationship Id="rId22" Type="http://schemas.openxmlformats.org/officeDocument/2006/relationships/font" Target="fonts/CenturyGothic-bold.fntdata"/><Relationship Id="rId10" Type="http://schemas.openxmlformats.org/officeDocument/2006/relationships/slide" Target="slides/slide5.xml"/><Relationship Id="rId21" Type="http://schemas.openxmlformats.org/officeDocument/2006/relationships/font" Target="fonts/CenturyGothic-regular.fntdata"/><Relationship Id="rId13" Type="http://schemas.openxmlformats.org/officeDocument/2006/relationships/font" Target="fonts/Nunito-regular.fntdata"/><Relationship Id="rId24" Type="http://schemas.openxmlformats.org/officeDocument/2006/relationships/font" Target="fonts/CenturyGothic-boldItalic.fntdata"/><Relationship Id="rId12" Type="http://schemas.openxmlformats.org/officeDocument/2006/relationships/slide" Target="slides/slide7.xml"/><Relationship Id="rId23" Type="http://schemas.openxmlformats.org/officeDocument/2006/relationships/font" Target="fonts/CenturyGothic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7" Type="http://schemas.openxmlformats.org/officeDocument/2006/relationships/font" Target="fonts/QuattrocentoSans-regular.fntdata"/><Relationship Id="rId16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QuattrocentoSans-italic.fntdata"/><Relationship Id="rId6" Type="http://schemas.openxmlformats.org/officeDocument/2006/relationships/slide" Target="slides/slide1.xml"/><Relationship Id="rId18" Type="http://schemas.openxmlformats.org/officeDocument/2006/relationships/font" Target="fonts/Quattrocento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" name="Google Shape;6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a957c8c6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a957c8c6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a957c8c6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a957c8c6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a957c8c6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a957c8c6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a957c8c6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a957c8c6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091329"/>
            <a:ext cx="9144000" cy="2052300"/>
          </a:xfrm>
          <a:prstGeom prst="rect">
            <a:avLst/>
          </a:prstGeom>
          <a:solidFill>
            <a:srgbClr val="01737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3086792"/>
            <a:ext cx="9094642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text on a black background&#10;&#10;Description automatically generated" id="12" name="Google Shape;1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9947" y="456940"/>
            <a:ext cx="1914750" cy="44434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143000" y="3650852"/>
            <a:ext cx="68580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628650" y="1373906"/>
            <a:ext cx="78867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B6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sp>
        <p:nvSpPr>
          <p:cNvPr id="15" name="Google Shape;15;p2"/>
          <p:cNvSpPr txBox="1"/>
          <p:nvPr>
            <p:ph idx="2" type="body"/>
          </p:nvPr>
        </p:nvSpPr>
        <p:spPr>
          <a:xfrm>
            <a:off x="2043709" y="4508772"/>
            <a:ext cx="5056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3" type="body"/>
          </p:nvPr>
        </p:nvSpPr>
        <p:spPr>
          <a:xfrm>
            <a:off x="3619148" y="2381804"/>
            <a:ext cx="1905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674458" y="573053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674458" y="211319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9AD"/>
              </a:buClr>
              <a:buSzPts val="1900"/>
              <a:buFont typeface="Century Gothic"/>
              <a:buNone/>
              <a:defRPr b="1" i="0" sz="1900" u="none" cap="none" strike="noStrike">
                <a:solidFill>
                  <a:srgbClr val="00B9A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pic>
        <p:nvPicPr>
          <p:cNvPr id="28" name="Google Shape;28;p5"/>
          <p:cNvPicPr preferRelativeResize="0"/>
          <p:nvPr/>
        </p:nvPicPr>
        <p:blipFill rotWithShape="1">
          <a:blip r:embed="rId2">
            <a:alphaModFix/>
          </a:blip>
          <a:srcRect b="-416" l="0" r="49469" t="49906"/>
          <a:stretch/>
        </p:blipFill>
        <p:spPr>
          <a:xfrm>
            <a:off x="8514940" y="-3152"/>
            <a:ext cx="639381" cy="638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yellow squares on a black background&#10;&#10;Description automatically generated" id="29" name="Google Shape;29;p5"/>
          <p:cNvPicPr preferRelativeResize="0"/>
          <p:nvPr/>
        </p:nvPicPr>
        <p:blipFill rotWithShape="1">
          <a:blip r:embed="rId2">
            <a:alphaModFix/>
          </a:blip>
          <a:srcRect b="-416" l="0" r="49469" t="49906"/>
          <a:stretch/>
        </p:blipFill>
        <p:spPr>
          <a:xfrm rot="-5400000">
            <a:off x="-1531" y="2449"/>
            <a:ext cx="639381" cy="638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text on a black background&#10;&#10;Description automatically generated" id="30" name="Google Shape;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8570" y="4653266"/>
            <a:ext cx="1576513" cy="349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yellow squares on a black background&#10;&#10;Description automatically generated" id="31" name="Google Shape;31;p5"/>
          <p:cNvPicPr preferRelativeResize="0"/>
          <p:nvPr/>
        </p:nvPicPr>
        <p:blipFill rotWithShape="1">
          <a:blip r:embed="rId2">
            <a:alphaModFix/>
          </a:blip>
          <a:srcRect b="-416" l="0" r="49469" t="49906"/>
          <a:stretch/>
        </p:blipFill>
        <p:spPr>
          <a:xfrm rot="10800000">
            <a:off x="-1729" y="4507839"/>
            <a:ext cx="639381" cy="638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4" name="Google Shape;34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7" name="Google Shape;57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1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/>
        </p:nvSpPr>
        <p:spPr>
          <a:xfrm>
            <a:off x="0" y="380"/>
            <a:ext cx="320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GB" sz="42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KELOMPOK 5</a:t>
            </a:r>
            <a:endParaRPr b="1" i="0" sz="4200" u="none" cap="none" strike="noStrike">
              <a:solidFill>
                <a:srgbClr val="000000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427400" y="1102650"/>
            <a:ext cx="8223900" cy="24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GB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Penugasan MPI 5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GB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Analisis Data Klaim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3" name="Google Shape;73;p15"/>
          <p:cNvSpPr txBox="1"/>
          <p:nvPr>
            <p:ph idx="1" type="subTitle"/>
          </p:nvPr>
        </p:nvSpPr>
        <p:spPr>
          <a:xfrm>
            <a:off x="1143000" y="3650850"/>
            <a:ext cx="6858000" cy="14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 sz="1600">
                <a:latin typeface="Century Gothic"/>
                <a:ea typeface="Century Gothic"/>
                <a:cs typeface="Century Gothic"/>
                <a:sym typeface="Century Gothic"/>
              </a:rPr>
              <a:t>Disampaikan pada Pelatihan Pengkodean Diagnosis Penyakit dan Tindakan Bagi Tenaga Koder di FPKTL dalam Program JKN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1" sz="16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GB" sz="1600">
                <a:latin typeface="Century Gothic"/>
                <a:ea typeface="Century Gothic"/>
                <a:cs typeface="Century Gothic"/>
                <a:sym typeface="Century Gothic"/>
              </a:rPr>
              <a:t>Gelombang III</a:t>
            </a:r>
            <a:endParaRPr b="1" sz="1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GB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 24-49 November 2025</a:t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5938375" y="3003"/>
            <a:ext cx="320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GB" sz="42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AKT </a:t>
            </a:r>
            <a:r>
              <a:rPr b="1" lang="en-GB" sz="4200"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21</a:t>
            </a:r>
            <a:endParaRPr b="1" i="0" sz="4200" u="none" cap="none" strike="noStrike">
              <a:solidFill>
                <a:srgbClr val="000000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4300" y="1723450"/>
            <a:ext cx="6107225" cy="34200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912925" y="324275"/>
            <a:ext cx="75945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GB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Selamat Mengerjakan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GB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Semangaat….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SOAL 1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Kelas rawat inap dengan diagram lingkaran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7913" y="1711225"/>
            <a:ext cx="4695825" cy="299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Soal 2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Frekuensi per MDC rawat inap dengan diagram batang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MDC 26 - disease and disorders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Of blood and blood forming organs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 immunological disorders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MDC 27- myeloproliverative disease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 disorder</a:t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 rotWithShape="1">
          <a:blip r:embed="rId3">
            <a:alphaModFix/>
          </a:blip>
          <a:srcRect b="0" l="-2291" r="0" t="0"/>
          <a:stretch/>
        </p:blipFill>
        <p:spPr>
          <a:xfrm>
            <a:off x="4105025" y="2498525"/>
            <a:ext cx="4406975" cy="180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Soal 3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550" y="1239051"/>
            <a:ext cx="8721749" cy="28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Soal 4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2476"/>
            <a:ext cx="8520601" cy="373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Soal 5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36400"/>
            <a:ext cx="9144000" cy="307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