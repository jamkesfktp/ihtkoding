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Quattrocento Sans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22" Type="http://schemas.openxmlformats.org/officeDocument/2006/relationships/font" Target="fonts/QuattrocentoSans-italic.fntdata"/><Relationship Id="rId21" Type="http://schemas.openxmlformats.org/officeDocument/2006/relationships/font" Target="fonts/QuattrocentoSans-bold.fntdata"/><Relationship Id="rId24" Type="http://schemas.openxmlformats.org/officeDocument/2006/relationships/font" Target="fonts/CenturyGothic-regular.fntdata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19" Type="http://schemas.openxmlformats.org/officeDocument/2006/relationships/font" Target="fonts/Nunito-boldItalic.fntdata"/><Relationship Id="rId1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9f2721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9f2721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94d7b0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94d7b0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a9f2721e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a9f2721e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a9f2721e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a9f2721e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9f2721e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a9f2721e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9f2721e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a9f2721e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a94d7b06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a94d7b06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a94d7b06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a94d7b06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9" name="Google Shape;29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31" name="Google Shape;31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0" y="380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2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27400" y="1102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Penugasan MPI 5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Data Klaim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938375" y="3003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KELAS RAWAT INAP DAN DIAGRAM LINGKARAN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4439400" cy="36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Analisis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Kelas 3: 62,6%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Ini merupakan kelompok dengan jumlah pasien terbesar. Artinya, sebagian besar pasien memilih atau ditempatkan di Kelas 3, yang biasanya memiliki fasilitas standar dan biaya paling terjangkau. </a:t>
            </a:r>
            <a:r>
              <a:rPr b="1" lang="en-GB" sz="1100">
                <a:solidFill>
                  <a:schemeClr val="dk1"/>
                </a:solidFill>
              </a:rPr>
              <a:t>Dominasi Kelas 3</a:t>
            </a:r>
            <a:r>
              <a:rPr lang="en-GB" sz="1100">
                <a:solidFill>
                  <a:schemeClr val="dk1"/>
                </a:solidFill>
              </a:rPr>
              <a:t> menandakan bahwa rumah sakit melayani masyarakat dengan kebutuhan ekonomi menengah ke bawah dalam jumlah besar.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Kelas 1: 29,2%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Kelas 1 menempati posisi kedua. Ini menunjukkan bahwa hampir sepertiga pasien menginginkan atau memerlukan fasilitas kamar lebih nyaman, dengan biaya menengah. </a:t>
            </a:r>
            <a:r>
              <a:rPr b="1" lang="en-GB" sz="1100">
                <a:solidFill>
                  <a:schemeClr val="dk1"/>
                </a:solidFill>
              </a:rPr>
              <a:t>Kecilnya porsi Kelas 2</a:t>
            </a:r>
            <a:r>
              <a:rPr lang="en-GB" sz="1100">
                <a:solidFill>
                  <a:schemeClr val="dk1"/>
                </a:solidFill>
              </a:rPr>
              <a:t> mungkin menunjukkan ketidakseimbangan permintaan dan penawaran, atau preferensi pasien yang lebih condong langsung ke Kelas 1 atau Kelas 3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1100">
                <a:solidFill>
                  <a:schemeClr val="dk1"/>
                </a:solidFill>
              </a:rPr>
              <a:t>Kelas 2: 8,2%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Kelas 2 memiliki persentase paling kecil. Ini bisa menunjukkan bahwa fasilitas atau ketersediaan kelas ini jarang dipilih, atau jumlah kamarnya memang sedikit. </a:t>
            </a:r>
            <a:r>
              <a:rPr b="1" lang="en-GB" sz="1100">
                <a:solidFill>
                  <a:schemeClr val="dk1"/>
                </a:solidFill>
              </a:rPr>
              <a:t>Kelas 1 tetap cukup diminati</a:t>
            </a:r>
            <a:r>
              <a:rPr lang="en-GB" sz="1100">
                <a:solidFill>
                  <a:schemeClr val="dk1"/>
                </a:solidFill>
              </a:rPr>
              <a:t>, menunjukkan ada kelompok pasien yang lebih mengutamakan kenyamanan atau membutuhkan ruang lebih personal.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101" y="1017725"/>
            <a:ext cx="3778926" cy="3471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0" y="396225"/>
            <a:ext cx="8222700" cy="47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Rekomendasi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Evaluasi Kapasitas Kelas 3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Mengingat tingginya permintaan, rumah sakit dapat mempertimbangkan: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Penambahan jumlah tempat tidur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Peningkatan kualitas fasilitas agar tetap layak dan tidak overload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Peningkatan rasio tenaga kesehatan di kelas ini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Tinjau Ulang Peran Kelas 2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Jika Kelas 2 kurang diminati: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Teliti apakah fasilitas kurang menarik atau biaya tidak proporsional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Pertimbangkan </a:t>
            </a:r>
            <a:r>
              <a:rPr i="1" lang="en-GB" sz="1100">
                <a:solidFill>
                  <a:schemeClr val="dk1"/>
                </a:solidFill>
              </a:rPr>
              <a:t>rebranding</a:t>
            </a:r>
            <a:r>
              <a:rPr lang="en-GB" sz="1100">
                <a:solidFill>
                  <a:schemeClr val="dk1"/>
                </a:solidFill>
              </a:rPr>
              <a:t> atau mengoptimalkan kembali ruang yang kurang terisi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Memonitor apakah perlu mengkonversi sebagian kamar Kelas 2 menjadi Kelas 1 atau 3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Pertahankan Kualitas Kelas 1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Karena hampir 30% pasien memilihnya: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Jaga standar kebersihan dan kenyamanan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Evaluasi harga agar bersaing namun tetap menutup biaya operasional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Perencanaan Strategis Jangka Panjang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Menyusun rencana investasi ruang rawat inap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Pengaturan kapasitas sesuai tren permintaan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Penyesuaian SDM untuk pemerataan pelayanan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499" y="-342900"/>
            <a:ext cx="3229725" cy="2967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20"/>
              <a:t>DiAGRAM BATANG </a:t>
            </a:r>
            <a:r>
              <a:rPr lang="en-GB" sz="1920"/>
              <a:t>FREKUENSI  PER MDC RAWAT INAP </a:t>
            </a:r>
            <a:endParaRPr sz="1920"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5872350" y="1921350"/>
            <a:ext cx="2960100" cy="25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74" y="893777"/>
            <a:ext cx="5771776" cy="398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80275" y="3837500"/>
            <a:ext cx="8520600" cy="11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RS mengalami selisih biaya positif cukup besar</a:t>
            </a:r>
            <a:r>
              <a:rPr lang="en-GB" sz="1100">
                <a:solidFill>
                  <a:schemeClr val="dk1"/>
                </a:solidFill>
              </a:rPr>
              <a:t> pada seluruh IDRG, menandakan biaya real pelayanan lebih tinggi daripada tarif klaim.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Tidak ada IDRG yang benar-benar mendominasi jumlah kasus</a:t>
            </a:r>
            <a:r>
              <a:rPr lang="en-GB" sz="1100">
                <a:solidFill>
                  <a:schemeClr val="dk1"/>
                </a:solidFill>
              </a:rPr>
              <a:t>, sehingga analisis efisiensi harus dilakukan per kelompok kasus, bukan bergantung pada frekuensi.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Beberapa IDRG sangat tidak efisien</a:t>
            </a:r>
            <a:r>
              <a:rPr lang="en-GB" sz="1100">
                <a:solidFill>
                  <a:schemeClr val="dk1"/>
                </a:solidFill>
              </a:rPr>
              <a:t> dan berpotensi menyebabkan kerugian signifikan bagi RS.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46986" l="0" r="0" t="0"/>
          <a:stretch/>
        </p:blipFill>
        <p:spPr>
          <a:xfrm>
            <a:off x="527000" y="794400"/>
            <a:ext cx="7419001" cy="2859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>
            <p:ph type="title"/>
          </p:nvPr>
        </p:nvSpPr>
        <p:spPr>
          <a:xfrm>
            <a:off x="380277" y="32158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820"/>
              <a:t>TABEL 10 KODE IDRG RAWAT INAP DENGAN JUMLAH KASUS TERBANYAK</a:t>
            </a:r>
            <a:endParaRPr sz="1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 rotWithShape="1">
          <a:blip r:embed="rId3">
            <a:alphaModFix/>
          </a:blip>
          <a:srcRect b="53393" l="0" r="1488" t="0"/>
          <a:stretch/>
        </p:blipFill>
        <p:spPr>
          <a:xfrm>
            <a:off x="401300" y="834325"/>
            <a:ext cx="8110325" cy="31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/>
        </p:nvSpPr>
        <p:spPr>
          <a:xfrm>
            <a:off x="155850" y="3994600"/>
            <a:ext cx="88323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Kasus terbanyak berasal dari spesialisasi </a:t>
            </a:r>
            <a:r>
              <a:rPr b="1" lang="en-GB" sz="1100">
                <a:solidFill>
                  <a:schemeClr val="dk1"/>
                </a:solidFill>
              </a:rPr>
              <a:t>bedah, jantung, paru, syaraf, dan onkologi</a:t>
            </a:r>
            <a:r>
              <a:rPr lang="en-GB" sz="1100">
                <a:solidFill>
                  <a:schemeClr val="dk1"/>
                </a:solidFill>
              </a:rPr>
              <a:t>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Semua DPJP mengalami defisit</a:t>
            </a:r>
            <a:r>
              <a:rPr lang="en-GB" sz="1100">
                <a:solidFill>
                  <a:schemeClr val="dk1"/>
                </a:solidFill>
              </a:rPr>
              <a:t>, sehingga terdapat masalah kesesuaian biaya pelayanan dengan tarif klaim INA-CBG.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Spesialisasi tertentu (jantung, bedah umum, onkologi) memberikan kontribusi defisit terbesar.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196163" y="12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20"/>
              <a:t>TABEL </a:t>
            </a:r>
            <a:r>
              <a:rPr lang="en-GB" sz="1920"/>
              <a:t>10 DPJP RAWAT INAP DENGAN JUMLAH KASUS TERBANYAK</a:t>
            </a:r>
            <a:endParaRPr sz="19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No. 5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42330" l="5067" r="34677" t="23096"/>
          <a:stretch/>
        </p:blipFill>
        <p:spPr>
          <a:xfrm>
            <a:off x="121450" y="1138759"/>
            <a:ext cx="8867126" cy="320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5257375" y="1152475"/>
            <a:ext cx="357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Tentu. Jika dari </a:t>
            </a:r>
            <a:r>
              <a:rPr b="1" lang="en-GB" sz="1100">
                <a:solidFill>
                  <a:schemeClr val="dk1"/>
                </a:solidFill>
              </a:rPr>
              <a:t>251 kasus</a:t>
            </a:r>
            <a:r>
              <a:rPr lang="en-GB" sz="1100">
                <a:solidFill>
                  <a:schemeClr val="dk1"/>
                </a:solidFill>
              </a:rPr>
              <a:t> yang telah dianalisis (kemungkinan besar dalam konteks </a:t>
            </a:r>
            <a:r>
              <a:rPr i="1" lang="en-GB" sz="1100">
                <a:solidFill>
                  <a:schemeClr val="dk1"/>
                </a:solidFill>
              </a:rPr>
              <a:t>coding</a:t>
            </a:r>
            <a:r>
              <a:rPr lang="en-GB" sz="1100">
                <a:solidFill>
                  <a:schemeClr val="dk1"/>
                </a:solidFill>
              </a:rPr>
              <a:t> INA-CBGs/Rekam Medis Elektronik), dan masih ditemukan sekitar </a:t>
            </a:r>
            <a:r>
              <a:rPr b="1" lang="en-GB" sz="1100">
                <a:solidFill>
                  <a:schemeClr val="dk1"/>
                </a:solidFill>
              </a:rPr>
              <a:t>3 kode yang tidak sesuai</a:t>
            </a:r>
            <a:r>
              <a:rPr lang="en-GB" sz="1100">
                <a:solidFill>
                  <a:schemeClr val="dk1"/>
                </a:solidFill>
              </a:rPr>
              <a:t> (tingkat kesalahan sekitar 3/251– 1.2%)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76500"/>
            <a:ext cx="5080975" cy="13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232175" y="0"/>
            <a:ext cx="5866800" cy="4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Rekomendasi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443850"/>
            <a:ext cx="3480600" cy="44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Evaluasi alur klinis (clinical pathway) pada kasus dengan defisit terbesar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Perlu dilakukan review pada: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Lama hari rawat (LOS)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Penggunaan obat high-cost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Prosedur tambahan atau pemeriksaan yang tidak termasuk paket INA-CBG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 Tujuannya menurunkan biaya yang tidak memberikan dampak langsung pada hasil klinis.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Optimalisasi biaya untuk high-cost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Fokus pada: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Onkologi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Bedah Digestive &amp; Bedah Umum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Jantung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Beberapa strategi: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Negosiasi harga obat dan alat kesehatan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Penggunaan alternatif klinis yang cost-effective</a:t>
            </a:r>
            <a:endParaRPr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Peningkatan efisiensi operasi dan ruang perawatan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35" name="Google Shape;135;p24"/>
          <p:cNvSpPr txBox="1"/>
          <p:nvPr/>
        </p:nvSpPr>
        <p:spPr>
          <a:xfrm>
            <a:off x="4083950" y="0"/>
            <a:ext cx="4577700" cy="4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Penguatan tim kendali mutu &amp; kendali biaya (TKMKB)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Untuk menganalisis: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Kasus-kasus outlier dengan biaya sangat tinggi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Pola pemeriksaan yang berlebihan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Kesesuaian dokumentasi klaim INA-CBG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Audit klaim untuk mengurangi potensi potongan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Dimana hal yang serring </a:t>
            </a:r>
            <a:r>
              <a:rPr lang="en-GB" sz="1100">
                <a:solidFill>
                  <a:schemeClr val="dk1"/>
                </a:solidFill>
              </a:rPr>
              <a:t>terjadi: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Kodifikasi diagnosis/prosedur kurang lengkap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Dokumentasi tidak mendukung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Kombinasi diagnosis tidak optimal (berdampak pada grouping kasus)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Pemantauan kinerja per DPJP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Tanpa menilai individu, data ini dapat digunakan untuk: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Memberikan masukan berbasis evidence kepada DPJP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Menyusun pelatihan dan standarisasi praktik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Meningkatkan kolaborasi antara dokter, manajemen, dan tim klaim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